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IA na Advocacia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Segoe UI"/>
              </a:defRPr>
            </a:pPr>
            <a:r>
              <a:t>O que muda na segunda-feira.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Paixão Côrtes Advogados  |  6 horas  |  67%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Segoe UI"/>
              </a:defRPr>
            </a:pPr>
            <a:r>
              <a:t>Igor Morais Vasconcelos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Doutorando em Administração Pública - IDP  |  Especialista em IA Aplicada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 Diferença Agora é a VELOCIDADE DA MUDANÇA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"A maior deficiência humana é a incapacidade de compreender a função exponencial."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-- Albert Allen Bartlett, Professor de Física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56032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ChatGPT lançado</a:t>
            </a:r>
            <a:br/>
            <a:r>
              <a:t>100M usuários em 2 meses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926080"/>
            <a:ext cx="256032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IA agêntica surge</a:t>
            </a:r>
            <a:br/>
            <a:r>
              <a:t>Sistemas autônomos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26080"/>
            <a:ext cx="256032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Harvey AI: US$ 8 bi</a:t>
            </a:r>
            <a:br/>
            <a:r>
              <a:t>Maior legaltech do mundo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926080"/>
            <a:ext cx="256032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Vocês estão AQUI.</a:t>
            </a:r>
            <a:br/>
            <a:r>
              <a:t>47% dos escritórios já usam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"Inteligência artificial é a próxima grande mudança. Momentos assim surgem apenas a cada algumas décadas." -- Mark Andreessen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BLOCO 1: ESPANTO  |  Acesse as Ferramentas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Escaneie os QR Codes ou acesse os links abaixo. Você vai precisar AGORA.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4747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C3AED"/>
                </a:solidFill>
                <a:latin typeface="Segoe UI"/>
              </a:defRPr>
            </a:pPr>
            <a:r>
              <a:t>chat.openai.com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Deep Research</a:t>
            </a:r>
            <a:br/>
            <a:r>
              <a:t>Rascunhos em massa</a:t>
            </a:r>
            <a:br/>
            <a:r>
              <a:t>Brainstorm de teses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011680"/>
            <a:ext cx="2560320" cy="34747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C3AED"/>
                </a:solidFill>
                <a:latin typeface="Segoe UI"/>
              </a:defRPr>
            </a:pPr>
            <a:r>
              <a:t>claude.ai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Extended Thinking</a:t>
            </a:r>
            <a:br/>
            <a:r>
              <a:t>Análise profunda</a:t>
            </a:r>
            <a:br/>
            <a:r>
              <a:t>Revisão de peças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011680"/>
            <a:ext cx="2560320" cy="34747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C3AED"/>
                </a:solidFill>
                <a:latin typeface="Segoe UI"/>
              </a:defRPr>
            </a:pPr>
            <a:r>
              <a:t>perplexity.ai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Busca com fontes</a:t>
            </a:r>
            <a:br/>
            <a:r>
              <a:t>Links automáticos</a:t>
            </a:r>
            <a:br/>
            <a:r>
              <a:t>Verificação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011680"/>
            <a:ext cx="2560320" cy="34747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NotebookLM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C3AED"/>
                </a:solidFill>
                <a:latin typeface="Segoe UI"/>
              </a:defRPr>
            </a:pPr>
            <a:r>
              <a:t>notebooklm.google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2004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Documentos longos</a:t>
            </a:r>
            <a:br/>
            <a:r>
              <a:t>Processos volumosos</a:t>
            </a:r>
            <a:br/>
            <a:r>
              <a:t>Due diligence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QR Codes completos na folha impressa  |  Wi-Fi: ____________  Senha: 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Segoe UI"/>
              </a:defRPr>
            </a:pPr>
            <a:r>
              <a:t>O que surpreendeu?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Segoe UI"/>
              </a:defRPr>
            </a:pPr>
            <a:r>
              <a:t>O que decepcionou?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88"/>
                </a:solidFill>
                <a:latin typeface="Segoe UI"/>
              </a:defRPr>
            </a:pPr>
            <a:r>
              <a:t>Sem julgamento. Só curiosidade.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DO BOM USO DA IA  —  Dicas de OURO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Que você não vai ver em outro lugar.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Pense não só no CONTEÚDO da resposta, mas na FORMA.</a:t>
            </a:r>
            <a:br/>
            <a:r>
              <a:t>Descreva formato, estrutura, tipo de texto. Facilita MUITO.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78308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Use o MICROFONE. É possível passar mais contexto</a:t>
            </a:r>
            <a:br/>
            <a:r>
              <a:t>e fluidez falando do que digitando.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Trate a IA como um ESTAGIÁRIO brilhante que nunca</a:t>
            </a:r>
            <a:br/>
            <a:r>
              <a:t>pisou no mundo real. Fale como falaria com humano.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29184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3429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 IA é BIPOLAR: varia de Professor Pardal ao Pateta.</a:t>
            </a:r>
            <a:br/>
            <a:r>
              <a:t>Se errou, mande responder NOVAMENTE.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NÃO corrija no comando seguinte. VOLTE e altere o</a:t>
            </a:r>
            <a:br/>
            <a:r>
              <a:t>comando anterior. Evita contaminar o contexto.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937760"/>
            <a:ext cx="5303520" cy="1371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50749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Para trabalhos avançados, use a IA para CRIAR</a:t>
            </a:r>
            <a:br/>
            <a:r>
              <a:t>os prompts que você vai usar depois.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 Comandos Mágicos para seus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"Pense passo a passo."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Liga o modo de raciocínio. A IA mostra o pensamento</a:t>
            </a:r>
            <a:br/>
            <a:r>
              <a:t>e fica dramaticamente mais precisa. No Claude: Extended</a:t>
            </a:r>
            <a:br/>
            <a:r>
              <a:t>Thinking. No ChatGPT: modo o1/o3.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46304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BUSCA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"Pesquise antes na internet."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91839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Diminui alucinação, traz conteúdo atualizado e</a:t>
            </a:r>
            <a:br/>
            <a:r>
              <a:t>jurisprudência com LINK verificável. Sem isso, ela</a:t>
            </a:r>
            <a:br/>
            <a:r>
              <a:t>inventa. Com isso, ela cita fontes.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AUTOCHECAGEM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"Critique sua resposta e me</a:t>
            </a:r>
            <a:br/>
            <a:r>
              <a:t>entregue uma versão melhor."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0292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A IA se autocritica, encontra falhas e entrega</a:t>
            </a:r>
            <a:br/>
            <a:r>
              <a:t>uma resposta superior. Funciona como revisão</a:t>
            </a:r>
            <a:br/>
            <a:r>
              <a:t>automática antes de você revisar.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2: Protocolo de Pesquisa Jurídica com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IA SERVE para jurisprudência SIM — mas só com MÉTODO.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BUSCAR NA</a:t>
            </a:r>
            <a:br/>
            <a: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Sempre ativar busca web.</a:t>
            </a:r>
            <a:br/>
            <a:r>
              <a:t>ChatGPT: Deep Research.</a:t>
            </a:r>
            <a:br/>
            <a:r>
              <a:t>Perplexity: é nativo.</a:t>
            </a:r>
            <a:br/>
            <a:r>
              <a:t>Sem busca = alucinação.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56032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C3AE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EXIGIR</a:t>
            </a:r>
            <a:br/>
            <a:r>
              <a:t>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918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Toda citação DEVE vir com</a:t>
            </a:r>
            <a:br/>
            <a:r>
              <a:t>link direto para o tribunal.</a:t>
            </a:r>
            <a:br/>
            <a:r>
              <a:t>Sem link = não existe.</a:t>
            </a:r>
            <a:br/>
            <a:r>
              <a:t>Ponto final.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56032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USAR</a:t>
            </a:r>
            <a:br/>
            <a:r>
              <a:t>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Sempre ativar raciocínio</a:t>
            </a:r>
            <a:br/>
            <a:r>
              <a:t>estendido. ChatGPT: o1/o3.</a:t>
            </a:r>
            <a:br/>
            <a:r>
              <a:t>Claude: Extended Thinking.</a:t>
            </a:r>
            <a:br/>
            <a:r>
              <a:t>Reduz alucinações.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56032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PEDIR</a:t>
            </a:r>
            <a:br/>
            <a:r>
              <a:t>AUTOCHECAGEM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2918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"Revise todas as citações.</a:t>
            </a:r>
            <a:br/>
            <a:r>
              <a:t>Confirme que cada link</a:t>
            </a:r>
            <a:br/>
            <a:r>
              <a:t>funciona. Sinalize</a:t>
            </a:r>
            <a:br/>
            <a:r>
              <a:t>dúvidas."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REGRA GRAVADA:  Busca  →  Link  →  Thinking  →  Checagem  |  Repetir até virar hábito.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2: Regulação — O Que Já É Lei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Resolução CNJ 615/2025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Marco regulatório de IA no Judiciário.</a:t>
            </a:r>
            <a:br/>
            <a:r>
              <a:t>Obriga transparência no uso de IA.</a:t>
            </a:r>
            <a:br/>
            <a:r>
              <a:t>Juiz deve informar quando usou IA.</a:t>
            </a:r>
            <a:br/>
            <a:r>
              <a:t>Advogado deve verificar tudo.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Recomendação OAB 001/2024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Diretrizes para uso de IA na advocacia.</a:t>
            </a:r>
            <a:br/>
            <a:r>
              <a:t>Advogado é responsável por TUDO que assina.</a:t>
            </a:r>
            <a:br/>
            <a:r>
              <a:t>IA é ferramenta, não substituto.</a:t>
            </a:r>
            <a:br/>
            <a:r>
              <a:t>Verificação obrigatória.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515600" cy="201168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CASO REAL: Advogado Sancionado nos EUA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Steven Schwartz (NY, 2023): ChatGPT inventou 6 casos que NÃO existiam. Multa US$ 5.000.</a:t>
            </a:r>
            <a:br/>
            <a:r>
              <a:t>206 casos globais de alucinações em tribunais  |  66 decisões com sanções  |  Stanford: erram 17-33%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3: Mapa Honesto de Ferramentas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Curadoria de IA: diferentes IAs para diferentes usos. Sem ilusões.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094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Deep Research, versatilidade,</a:t>
            </a:r>
            <a:br/>
            <a:r>
              <a:t>GPTs customizados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094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Pode inventar se não</a:t>
            </a:r>
            <a:br/>
            <a:r>
              <a:t>forçar busca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094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Pesquisa jurisprudencial,</a:t>
            </a:r>
            <a:br/>
            <a:r>
              <a:t>rascunhos em massa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07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695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Análise profunda, Extended</a:t>
            </a:r>
            <a:br/>
            <a:r>
              <a:t>Thinking, textos longos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695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Acesso à internet</a:t>
            </a:r>
            <a:br/>
            <a:r>
              <a:t>limitado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695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Pareceres, análise de</a:t>
            </a:r>
            <a:br/>
            <a:r>
              <a:t>contratos, revisão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67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Perplexity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296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Pesquisa com fontes nativas,</a:t>
            </a:r>
            <a:br/>
            <a:r>
              <a:t>links automáticos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296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Não gera peças</a:t>
            </a:r>
            <a:br/>
            <a:r>
              <a:t>completas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296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Jurisprudência com</a:t>
            </a:r>
            <a:br/>
            <a:r>
              <a:t>citação e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27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NotebookLM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897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Estuda documentos longos,</a:t>
            </a:r>
            <a:br/>
            <a:r>
              <a:t>compara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5897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Não gera peças,</a:t>
            </a:r>
            <a:br/>
            <a:r>
              <a:t>não busca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897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Processos volumosos,</a:t>
            </a:r>
            <a:br/>
            <a:r>
              <a:t>due diligence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88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6060"/>
                </a:solidFill>
                <a:latin typeface="Segoe UI"/>
              </a:defRPr>
            </a:pPr>
            <a:r>
              <a:t>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499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Segoe UI"/>
              </a:defRPr>
            </a:pPr>
            <a:r>
              <a:t>Multimodal, integração</a:t>
            </a:r>
            <a:br/>
            <a:r>
              <a:t>Google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5499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Menos preciso</a:t>
            </a:r>
            <a:br/>
            <a:r>
              <a:t>em jurídico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5499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Transcrição audiências,</a:t>
            </a:r>
            <a:br/>
            <a:r>
              <a:t>docs digitalizados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3: O Modelo Certo para a Tarefa Certa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7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Pesquisar jurisprudência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7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Perplexity ou ChatGPT (Deep Research)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7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Busca web nativa +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41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Redigir contestação/recurso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41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Claude (Extended Thinking)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41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Análise profunda + textos longos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1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Comparar e revisar peças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1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Claude ou ChatGPT (GPT-4o)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21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Revisão crítica + sugestões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792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Analisar processo volumoso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792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NotebookLM ou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0792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Leitura de 100+ páginas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47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Gerar relatório p/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47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ChatGPT (GPTs customizados)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947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Template replicável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16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Verificar atualização legal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816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Perplexity (Pro Search)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816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Fontes em tempo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Dica de OURO: combine 2 IAs. Pesquise no Perplexity, redija no Claude, revise no ChatGPT.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3: Framework CLEAR — Prompt Estruturado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103120" cy="4114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6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" y="28346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Quem você é, qual o caso,</a:t>
            </a:r>
            <a:br/>
            <a:r>
              <a:t>qual a necessidade.</a:t>
            </a:r>
            <a:br/>
            <a:r>
              <a:t>Quanto mais contexto,</a:t>
            </a:r>
            <a:br/>
            <a:r>
              <a:t>melhor a resposta.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103120" cy="4114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16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F4444"/>
                </a:solidFill>
                <a:latin typeface="Segoe UI"/>
              </a:defRPr>
            </a:pPr>
            <a: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16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LIMITE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1640" y="28346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O que a IA NÃO deve fazer.</a:t>
            </a:r>
            <a:br/>
            <a:r>
              <a:t>"Não cite sem link."</a:t>
            </a:r>
            <a:br/>
            <a:r>
              <a:t>"Não invente casos."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103120" cy="4114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76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0B981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76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EXEMPLO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7640" y="28346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Mostre a estrutura desejada.</a:t>
            </a:r>
            <a:br/>
            <a:r>
              <a:t>Formato da peça, organização</a:t>
            </a:r>
            <a:br/>
            <a:r>
              <a:t>dos tópicos, modelo de saída.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371600"/>
            <a:ext cx="2103120" cy="4114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36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9E0B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36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AUDIÊNCIA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3640" y="28346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Para quem é o texto?</a:t>
            </a:r>
            <a:br/>
            <a:r>
              <a:t>Juiz? Cliente corporativo?</a:t>
            </a:r>
            <a:br/>
            <a:r>
              <a:t>Advogado júnior?</a:t>
            </a:r>
            <a:br/>
            <a:r>
              <a:t>Isso muda TUDO.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371600"/>
            <a:ext cx="2103120" cy="4114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964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  <a:latin typeface="Segoe UI"/>
              </a:defRPr>
            </a:pPr>
            <a: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96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9640" y="28346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Que papel a IA assume?</a:t>
            </a:r>
            <a:br/>
            <a:r>
              <a:t>"Advogado empresarial</a:t>
            </a:r>
            <a:br/>
            <a:r>
              <a:t>sênior em contencioso</a:t>
            </a:r>
            <a:br/>
            <a:r>
              <a:t>bancário."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CLEAR = a diferença entre uma resposta genérica e uma peça profissional.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3: CLEAR na Prática — Contestação Bancária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475488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Sou advogado que defende grande banco em contencioso trabalhista de massa.</a:t>
            </a:r>
            <a:br/>
            <a:r>
              <a:t>   Preciso de contestação para reclamação que pede horas extras. Volume: 300+ ações.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Não cite jurisprudência sem buscar na internet com link.</a:t>
            </a:r>
            <a:br/>
            <a:r>
              <a:t>   Foque em teses de defesa consolidadas. Estrutura replicável.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Estrutura: 1) Qualificação, 2) Síntese da inicial, 3) Preliminares,</a:t>
            </a:r>
            <a:br/>
            <a:r>
              <a:t>   4) Impugnação ponto a ponto, 5) Mérito, 6) Pedidos.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Juiz do trabalho de vara de Brasília.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2120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Advogado empresarial experiente em contencioso bancário de massa,</a:t>
            </a:r>
            <a:br/>
            <a:r>
              <a:t>   linguagem técnica, objetiva, sem excesso.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Esta é a Carta 1 do baralho. Vocês têm 12 cartas prontas para usar na segunda-feira.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3: As 12 Cartas CLEAR — Seu Arsenal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43891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ELABORAÇÃO DE PEÇAS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1. Contestação Trabalhista em Massa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2. Recurso Ordinário (Defesa)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3. Defesa em Ação Civil Pública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4. Acordo em Massa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651760" cy="43891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ANÁLISE E REVISÃO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5. Análise de Risco p/ Empresa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6. Revisão de Peça de Defesa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7. Parecer p/ Cliente Corporativo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8. Estratégia Contencioso Massa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371600"/>
            <a:ext cx="2651760" cy="43891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COMUNICAÇÃO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9. Relatório Mensal p/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10. E-mail Profissional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371600"/>
            <a:ext cx="2651760" cy="43891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PRODUTIVIDADE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11. Resumo de Processo em Lote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06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12. Checklist de Audiência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4: EXERCÍCIO 5 — Caso Gerente Bancário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O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Roberto Almeida Costa, 38a, ex-gerente.</a:t>
            </a:r>
            <a:br/>
            <a:r>
              <a:t>Banco Nacional S.A. - 800+ agências.</a:t>
            </a:r>
            <a:br/>
            <a:r>
              <a:t>450+ ações similares.</a:t>
            </a:r>
            <a:br/>
            <a:br/>
            <a:r>
              <a:t>ALEGA: Apesar do cargo de confiança, não</a:t>
            </a:r>
            <a:br/>
            <a:r>
              <a:t>tinha autonomia real. Metas impostas, sem</a:t>
            </a:r>
            <a:br/>
            <a:r>
              <a:t>poder de contratar/demitir, ponto biométrico.</a:t>
            </a:r>
            <a:br/>
            <a:br/>
            <a:r>
              <a:t>Salário: R$ 12.500 + Gratificação: R$ 4.200</a:t>
            </a:r>
            <a:br/>
            <a:r>
              <a:t>(33,6% do salário)</a:t>
            </a:r>
            <a:br/>
            <a:br/>
            <a:r>
              <a:t>PROVAS: E-mails às 6h e 21h, ponto</a:t>
            </a:r>
            <a:br/>
            <a:r>
              <a:t>biométrico, WhatsApp cobrando sábados.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FLUXO DO EXERCÍCIO (45min)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EM DUPLAS:</a:t>
            </a:r>
            <a:br/>
            <a:br/>
            <a:r>
              <a:t>1. PESQUISA (15 min)</a:t>
            </a:r>
            <a:br/>
            <a:r>
              <a:t>Usar IA para pesquisar jurisprudência.</a:t>
            </a:r>
            <a:br/>
            <a:r>
              <a:t>Protocolo: Busca + Link + Thinking +</a:t>
            </a:r>
            <a:br/>
            <a:r>
              <a:t>Checagem. Tema: art. 224 CLT.</a:t>
            </a:r>
            <a:br/>
            <a:br/>
            <a:r>
              <a:t>2. MINUTA (20 min)</a:t>
            </a:r>
            <a:br/>
            <a:r>
              <a:t>Gerar contestação com CLEAR.</a:t>
            </a:r>
            <a:br/>
            <a:r>
              <a:t>Foco em impugnar ponto a ponto.</a:t>
            </a:r>
            <a:br/>
            <a:r>
              <a:t>Usar Carta 1 como base.</a:t>
            </a:r>
            <a:br/>
            <a:br/>
            <a:r>
              <a:t>3. VERIFICAÇÃO (10 min)</a:t>
            </a:r>
            <a:br/>
            <a:r>
              <a:t>Checar links nos tribunais.</a:t>
            </a:r>
            <a:br/>
            <a:r>
              <a:t>Pedir autochecagem à 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4: Fluxo Completo de Defesa com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7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RECEBER</a:t>
            </a:r>
            <a:br/>
            <a:r>
              <a:t>O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" y="32918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Ler a inicial</a:t>
            </a:r>
            <a:br/>
            <a:r>
              <a:t>Identificar pedidos</a:t>
            </a:r>
            <a:br/>
            <a:r>
              <a:t>Mapear riscos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01168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67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67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PESQUISAR</a:t>
            </a:r>
            <a:br/>
            <a:r>
              <a:t>TESES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6700" y="32918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Perplexity + ChatGPT</a:t>
            </a:r>
            <a:br/>
            <a:r>
              <a:t>Protocolo 4 passos</a:t>
            </a:r>
            <a:br/>
            <a:r>
              <a:t>So com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1168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27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C3AE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27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REDIGIR</a:t>
            </a:r>
            <a:br/>
            <a:r>
              <a:t>DEFESA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2700" y="32918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Claude + CLEAR</a:t>
            </a:r>
            <a:br/>
            <a:r>
              <a:t>Carta 1 como base</a:t>
            </a:r>
            <a:br/>
            <a:r>
              <a:t>Replicavel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45920"/>
            <a:ext cx="201168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87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7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VERIFICAR</a:t>
            </a:r>
            <a:br/>
            <a:r>
              <a:t>TUDO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8700" y="32918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Links funcionam?</a:t>
            </a:r>
            <a:br/>
            <a:r>
              <a:t>Processos existem?</a:t>
            </a:r>
            <a:br/>
            <a:r>
              <a:t>Autochecagem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45920"/>
            <a:ext cx="2011680" cy="36576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47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4700" y="2468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REVISAR</a:t>
            </a:r>
            <a:br/>
            <a:r>
              <a:t>HUMANO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4700" y="32918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Advogado lê TUDO</a:t>
            </a:r>
            <a:br/>
            <a:r>
              <a:t>IA = rascunho</a:t>
            </a:r>
            <a:br/>
            <a:r>
              <a:t>Voce = produto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"200 contestações na fila. Com este fluxo, o tempo cai de 4 horas para 45 minutos.</a:t>
            </a:r>
            <a:br/>
            <a:r>
              <a:t>A IA faz o rascunho. Você faz o Direito."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5: Segurança Real — O Que Pode Dar Errado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27432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Alucinação Judicial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Steven Schwartz (NY, 2023)</a:t>
            </a:r>
            <a:br/>
            <a:r>
              <a:t>Citou 6 casos inventados</a:t>
            </a:r>
            <a:br/>
            <a:r>
              <a:t>Multa: US$ 5.000</a:t>
            </a:r>
            <a:br/>
            <a:r>
              <a:t>206 casos globais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27432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Vazamento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Samsung (2023)</a:t>
            </a:r>
            <a:br/>
            <a:r>
              <a:t>Código-fonte no ChatGPT</a:t>
            </a:r>
            <a:br/>
            <a:r>
              <a:t>Dados no treinamento da IA</a:t>
            </a:r>
            <a:br/>
            <a:r>
              <a:t>Irreversível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474720" cy="27432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Plágio Detectado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Múltiplos escritórios</a:t>
            </a:r>
            <a:br/>
            <a:r>
              <a:t>Textos idênticos entre peças</a:t>
            </a:r>
            <a:br/>
            <a:r>
              <a:t>Juiz identificou padrão</a:t>
            </a:r>
            <a:br/>
            <a:r>
              <a:t>Perda de credibilidade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64592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Insight (Luciano Floridi)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t>"IA = Agência bem-sucedida SEM inteligência. Ela resolve sem ENTENDER."</a:t>
            </a:r>
            <a:br/>
            <a:r>
              <a:t>A IA é bipolar: varia de Professor Pardal ao Pateta. O humano SEMPRE decide.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5: 5 Regras Inegociáveis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914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5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56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ANONIMIZAR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563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Nomes fictícios, dados mascarados. NUNCA enviar nome do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698480" cy="914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7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0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VERIFICAR TODA CITAÇÃO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07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Nenhuma jurisprudência sem link. Protocolo: Busca → Link → Thinking → Checagem.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79"/>
            <a:ext cx="10698480" cy="914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59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594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REVISAR TUDO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5947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Output de IA é RASCUNHO. Em contencioso de massa, erros se MULTIPLICAM.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914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11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11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REGISTRAR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11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Transparência com cliente e tribunal. CNJ 615/2025 obriga.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62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62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HUMANO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562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IA sugere, advogado ASSINA. A responsabilidade é SUA.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6: O Que Existe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Cada um é um curso inteiro. Mas vocês precisam saber que existem.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Jurimetria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Análise estatística de decisões.</a:t>
            </a:r>
            <a:br/>
            <a:r>
              <a:t>Padrões por vara, juiz, tribunal.</a:t>
            </a:r>
            <a:br/>
            <a:r>
              <a:t>Essencial para contencioso</a:t>
            </a:r>
            <a:br/>
            <a:r>
              <a:t>de massa.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IA Agêntica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Sistemas autônomos que executam</a:t>
            </a:r>
            <a:br/>
            <a:r>
              <a:t>tarefas completas.</a:t>
            </a:r>
            <a:br/>
            <a:r>
              <a:t>Harvey AI: US$ 8 bi.</a:t>
            </a:r>
            <a:br/>
            <a:r>
              <a:t>O futuro já chegou.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Visual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Petições visuais, infográficos.</a:t>
            </a:r>
            <a:br/>
            <a:r>
              <a:t>Juízes preferem.</a:t>
            </a:r>
            <a:br/>
            <a:r>
              <a:t>Clientes entendem.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64592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Automação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Processos repetitivos</a:t>
            </a:r>
            <a:br/>
            <a:r>
              <a:t>automatizados. Triagem,</a:t>
            </a:r>
            <a:br/>
            <a:r>
              <a:t>distribuição, prazos.</a:t>
            </a:r>
            <a:br/>
            <a:r>
              <a:t>Escala sem erro.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Mercado global de IA jurídica: US$ 3 bi (2025) → US$ 10,8 bi até 2030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BLOCO 6: Recursos para Continuar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AB2L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ab2l.org.br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Associação Brasileira de</a:t>
            </a:r>
            <a:br/>
            <a:r>
              <a:t>Lawtechs e Legaltechs.</a:t>
            </a:r>
            <a:br/>
            <a:r>
              <a:t>Ecossistema completo.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Podcast</a:t>
            </a:r>
            <a:br/>
            <a:r>
              <a:t>Direito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open.spotify.com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54+ episódios sobre</a:t>
            </a:r>
            <a:br/>
            <a:r>
              <a:t>direito e tecnologia.</a:t>
            </a:r>
            <a:br/>
            <a:r>
              <a:t>Atualizações semanais.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7160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FGV — Regulação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educacao-executiva.fgv.br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Curso GRATUITO. Online.</a:t>
            </a:r>
            <a:br/>
            <a:r>
              <a:t>6.400+ alunos.</a:t>
            </a:r>
            <a:br/>
            <a:r>
              <a:t>Base em regulação.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371600"/>
            <a:ext cx="2651760" cy="32004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TRT-10 / TST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trt10.jus.br / tst.jus.br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Segoe UI"/>
              </a:defRPr>
            </a:pPr>
            <a:r>
              <a:t>Pesquisa jurisprudencial.</a:t>
            </a:r>
            <a:br/>
            <a:r>
              <a:t>Sempre verificar links</a:t>
            </a:r>
            <a:br/>
            <a:r>
              <a:t>da IA aqui.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88"/>
                </a:solidFill>
                <a:latin typeface="Segoe UI"/>
              </a:defRPr>
            </a:pPr>
            <a:r>
              <a:t>QR Codes na folha impressa e no site: igormorais123.github.io/curso-ia-paixao-cortes/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BLOCO 7: O Momento em que Você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463040"/>
            <a:ext cx="210312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"Pensem naquelas 200 contestações na fila.</a:t>
            </a:r>
            <a:br/>
            <a:r>
              <a:t>Onde a IA entra na segunda-feira?"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200400"/>
            <a:ext cx="6675120" cy="1828800"/>
          </a:xfrm>
          <a:prstGeom prst="roundRect">
            <a:avLst/>
          </a:prstGeom>
          <a:solidFill>
            <a:srgbClr val="333344"/>
          </a:solidFill>
          <a:ln w="12700">
            <a:solidFill>
              <a:srgbClr val="44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383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Na segunda-feira, vou usar IA para: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931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_______________________________________________</a:t>
            </a:r>
            <a:br/>
            <a:br/>
            <a:r>
              <a:t>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"Vocês não vieram aprender sobre IA.</a:t>
            </a:r>
            <a:br/>
            <a:r>
              <a:t>Vocês descobriram uma versão mais poderosa de vocês."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Igor Morais Vasconcelos  |  inteia.com.br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