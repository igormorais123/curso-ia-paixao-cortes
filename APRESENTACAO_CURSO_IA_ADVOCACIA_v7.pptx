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0" y="548640"/>
            <a:ext cx="1920240" cy="192024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00" b="1">
                <a:solidFill>
                  <a:srgbClr val="0F172A"/>
                </a:solidFill>
              </a:rPr>
              <a:t>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651760"/>
            <a:ext cx="85340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INTE</a:t>
            </a:r>
            <a:r>
              <a:rPr sz="1800" b="1">
                <a:solidFill>
                  <a:srgbClr val="D69E2E"/>
                </a:solidFill>
              </a:rPr>
              <a:t>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O PROTOCOLO</a:t>
            </a:r>
          </a:p>
          <a:p>
            <a:pPr algn="ctr"/>
            <a:r>
              <a:rPr sz="2600" i="1">
                <a:solidFill>
                  <a:srgbClr val="D69E2E"/>
                </a:solidFill>
              </a:rPr>
              <a:t>Ativação do Advogado Aumentado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572000"/>
            <a:ext cx="3962095" cy="274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FFFFFF"/>
                </a:solidFill>
              </a:rPr>
              <a:t>Paixão Côrtes Advogados</a:t>
            </a:r>
          </a:p>
          <a:p>
            <a:pPr algn="ctr"/>
            <a:r>
              <a:rPr sz="1600">
                <a:solidFill>
                  <a:srgbClr val="94A3B8"/>
                </a:solidFill>
              </a:rPr>
              <a:t>Curso Prático de IA na Advocacia  |  4 horas  |  Híbrido</a:t>
            </a:r>
          </a:p>
          <a:p>
            <a:pPr algn="ctr"/>
            <a:r>
              <a:rPr sz="1400">
                <a:solidFill>
                  <a:srgbClr val="64748B"/>
                </a:solidFill>
              </a:rPr>
              <a:t>Dr. Igor Morais Vasconcelos  |  Fevereiro 2026</a:t>
            </a:r>
          </a:p>
        </p:txBody>
      </p:sp>
      <p:pic>
        <p:nvPicPr>
          <p:cNvPr id="7" name="Picture 6" descr="qr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5720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0"/>
              </a:spcAft>
            </a:pPr>
            <a:r>
              <a:rPr sz="3400" i="1">
                <a:solidFill>
                  <a:srgbClr val="FFFFFF"/>
                </a:solidFill>
              </a:rPr>
              <a:t>"Paixão Côrtes. 3 cidades.
Milhares de causas ganhas.
Tudo isso, no braço."</a:t>
            </a:r>
          </a:p>
          <a:p>
            <a:pPr algn="ctr">
              <a:spcBef>
                <a:spcPts val="3000"/>
              </a:spcBef>
            </a:pPr>
            <a:r>
              <a:rPr sz="3600" b="1">
                <a:solidFill>
                  <a:srgbClr val="D69E2E"/>
                </a:solidFill>
              </a:rPr>
              <a:t>Imaginem tudo isso —
com o protocolo ativado.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1097280"/>
            <a:ext cx="3047695" cy="274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</a:rPr>
              <a:t>   INTE</a:t>
            </a:r>
            <a:r>
              <a:rPr sz="1600" b="1">
                <a:solidFill>
                  <a:srgbClr val="D69E2E"/>
                </a:solidFill>
              </a:rPr>
              <a:t>IA</a:t>
            </a:r>
            <a:r>
              <a:rPr sz="1400">
                <a:solidFill>
                  <a:srgbClr val="FFFFFF"/>
                </a:solidFill>
              </a:rPr>
              <a:t>   |   DIA 1 — Quinta 06/02 — 15h-17h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Agenda — Dia 1</a:t>
            </a:r>
          </a:p>
          <a:p>
            <a:r>
              <a:rPr sz="1600">
                <a:solidFill>
                  <a:srgbClr val="7A7A7A"/>
                </a:solidFill>
              </a:rPr>
              <a:t>Quinta-feira, 06 de fevereiro  |  15h - 17h  |  120 minutos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114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/>
                        </a:rPr>
                        <a:t>Fase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/>
                        </a:rPr>
                        <a:t>Horário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/>
                        </a:rPr>
                        <a:t>Duração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/>
                        </a:rPr>
                        <a:t>Tema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1. ATIVAÇÃO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15:00 - 15:30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30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Espanto + Primeiro contato com 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2. VARREDURA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15:30 - 16:00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30 min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Pesquisa jurídica + Verificação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3. ARSENAL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16:00 - 16:35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35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Ferramentas + Prática comparativa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4. ESCUDO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16:35 - 17:00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25 min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Segurança + Encerramento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1206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7A7A7A"/>
                </a:solidFill>
              </a:rPr>
              <a:t>5 exercícios práticos  |  65% mão na massa  |  35% instrução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D69E2E"/>
                </a:solidFill>
              </a:rPr>
              <a:t>FASE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ATIVAÇÃO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D69E2E"/>
                </a:solidFill>
              </a:rPr>
              <a:t>"Primeira ativação. Vejam a máquina operar."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</a:rPr>
              <a:t>DIA 1  |  15:00 - 15:30  |  30 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657600"/>
            <a:ext cx="3047695" cy="274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</a:rPr>
              <a:t>   INTE</a:t>
            </a:r>
            <a:r>
              <a:rPr sz="1600" b="1">
                <a:solidFill>
                  <a:srgbClr val="D69E2E"/>
                </a:solidFill>
              </a:rPr>
              <a:t>IA</a:t>
            </a:r>
            <a:r>
              <a:rPr sz="1400">
                <a:solidFill>
                  <a:srgbClr val="FFFFFF"/>
                </a:solidFill>
              </a:rPr>
              <a:t>   |   FASE 1: ATIVAÇÃO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Abram suas ferramentas</a:t>
            </a:r>
          </a:p>
          <a:p>
            <a:r>
              <a:rPr sz="1600">
                <a:solidFill>
                  <a:srgbClr val="7A7A7A"/>
                </a:solidFill>
              </a:rPr>
              <a:t>Escaneie o QR code ou acesse o link no celular/notebook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34747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10A3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0A37F"/>
                </a:solidFill>
              </a:rPr>
              <a:t>ChatGPT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7A7A7A"/>
                </a:solidFill>
              </a:rPr>
              <a:t>chatgpt.com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4A4A"/>
                </a:solidFill>
              </a:rPr>
              <a:t>A mais popular. Pesquisa Profunda traz fontes com links.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011680"/>
            <a:ext cx="3291840" cy="34747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21945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D69E2E"/>
                </a:solidFill>
              </a:rPr>
              <a:t>Claude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743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7A7A7A"/>
                </a:solidFill>
              </a:rPr>
              <a:t>claude.ai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32004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4A4A"/>
                </a:solidFill>
              </a:rPr>
              <a:t>O melhor para textos longos e raciocínio aprofundado.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011680"/>
            <a:ext cx="3291840" cy="34747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1945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3B82F6"/>
                </a:solidFill>
              </a:rPr>
              <a:t>Perplexity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743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7A7A7A"/>
                </a:solidFill>
              </a:rPr>
              <a:t>perplexity.ai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2004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4A4A"/>
                </a:solidFill>
              </a:rPr>
              <a:t>Pesquisa com fontes nativas. Sem configurar nada.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7A7A7A"/>
                </a:solidFill>
              </a:rPr>
              <a:t>Versão gratuita já funciona. Crie conta se ainda não tem.</a:t>
            </a:r>
          </a:p>
        </p:txBody>
      </p:sp>
      <p:pic>
        <p:nvPicPr>
          <p:cNvPr id="19" name="Picture 18" descr="qr_chatg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4754880"/>
            <a:ext cx="1463040" cy="1463040"/>
          </a:xfrm>
          <a:prstGeom prst="rect">
            <a:avLst/>
          </a:prstGeom>
        </p:spPr>
      </p:pic>
      <p:pic>
        <p:nvPicPr>
          <p:cNvPr id="20" name="Picture 19" descr="qr_clau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4754880"/>
            <a:ext cx="1463040" cy="1463040"/>
          </a:xfrm>
          <a:prstGeom prst="rect">
            <a:avLst/>
          </a:prstGeom>
        </p:spPr>
      </p:pic>
      <p:pic>
        <p:nvPicPr>
          <p:cNvPr id="21" name="Picture 20" descr="qr_perplex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75488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</a:rPr>
              <a:t>   INTE</a:t>
            </a:r>
            <a:r>
              <a:rPr sz="1600" b="1">
                <a:solidFill>
                  <a:srgbClr val="D69E2E"/>
                </a:solidFill>
              </a:rPr>
              <a:t>IA</a:t>
            </a:r>
            <a:r>
              <a:rPr sz="1400">
                <a:solidFill>
                  <a:srgbClr val="FFFFFF"/>
                </a:solidFill>
              </a:rPr>
              <a:t>   |   FASE 1: ATIVAÇÃO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777240"/>
            <a:ext cx="2743200" cy="45720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EXERCÍCIO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777240"/>
            <a:ext cx="228600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TEMPO: 18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Configuração de Privacidade e Primeiro Uso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1. Abra o ChatGPT no celular ou notebook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/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/>
            </a:r>
          </a:p>
          <a:p>
            <a:r>
              <a:rPr sz="2000">
                <a:solidFill>
                  <a:srgbClr val="4A4A4A"/>
                </a:solidFill>
              </a:rPr>
              <a:t>2. Vá em Configurações → Controle de Dados</a:t>
            </a:r>
          </a:p>
          <a:p>
            <a:r>
              <a:rPr sz="2000" b="1">
                <a:solidFill>
                  <a:srgbClr val="4A4A4A"/>
                </a:solidFill>
              </a:rPr>
              <a:t>3. DESATIVE "Melhorar o modelo para todos"</a:t>
            </a:r>
          </a:p>
          <a:p>
            <a:r>
              <a:rPr sz="2000" i="1">
                <a:solidFill>
                  <a:srgbClr val="4A4A4A"/>
                </a:solidFill>
              </a:rPr>
              <a:t>   (Isso garante que seus dados NÃO treinam a IA)</a:t>
            </a:r>
          </a:p>
          <a:p>
            <a:r>
              <a:rPr sz="2000">
                <a:solidFill>
                  <a:srgbClr val="4A4A4A"/>
                </a:solidFill>
              </a:rPr>
              <a:t>4. Volte ao chat. Ative o modo "Pensamento Profundo"</a:t>
            </a:r>
          </a:p>
          <a:p>
            <a:r>
              <a:rPr sz="2000">
                <a:solidFill>
                  <a:srgbClr val="4A4A4A"/>
                </a:solidFill>
              </a:rPr>
              <a:t>5. Cole um trecho de processo ou petição sua</a:t>
            </a:r>
          </a:p>
          <a:p>
            <a:r>
              <a:rPr sz="2000">
                <a:solidFill>
                  <a:srgbClr val="4A4A4A"/>
                </a:solidFill>
              </a:rPr>
              <a:t>6. Peça: "Análise este documento e encontre</a:t>
            </a:r>
          </a:p>
          <a:p>
            <a:r>
              <a:rPr sz="2000">
                <a:solidFill>
                  <a:srgbClr val="4A4A4A"/>
                </a:solidFill>
              </a:rPr>
              <a:t>   pontos ocultos que eu possa ter deixado passar.</a:t>
            </a:r>
          </a:p>
          <a:p>
            <a:r>
              <a:rPr sz="2000">
                <a:solidFill>
                  <a:srgbClr val="4A4A4A"/>
                </a:solidFill>
              </a:rPr>
              <a:t>   Traga ideias para a defesa."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</a:rPr>
              <a:t>   INTE</a:t>
            </a:r>
            <a:r>
              <a:rPr sz="1600" b="1">
                <a:solidFill>
                  <a:srgbClr val="D69E2E"/>
                </a:solidFill>
              </a:rPr>
              <a:t>IA</a:t>
            </a:r>
            <a:r>
              <a:rPr sz="1400">
                <a:solidFill>
                  <a:srgbClr val="FFFFFF"/>
                </a:solidFill>
              </a:rPr>
              <a:t>   |   FASE 1: ATIVAÇÃO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F172A"/>
                </a:solidFill>
              </a:rPr>
              <a:t>O que surpreendeu?
O que decepcionou?</a:t>
            </a:r>
          </a:p>
          <a:p>
            <a:pPr algn="ctr">
              <a:spcBef>
                <a:spcPts val="3000"/>
              </a:spcBef>
            </a:pPr>
            <a:r>
              <a:rPr sz="2000">
                <a:solidFill>
                  <a:srgbClr val="7A7A7A"/>
                </a:solidFill>
              </a:rPr>
              <a:t>Online responde primeiro — chat ou microfone
Depois presencial — 2-3 relatos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D69E2E"/>
                </a:solidFill>
              </a:rPr>
              <a:t>FASE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VARREDURA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D69E2E"/>
                </a:solidFill>
              </a:rPr>
              <a:t>"Visão aumentada. Vocês vão enxergar o que antes era invisível."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</a:rPr>
              <a:t>DIA 1  |  15:30 - 16:00  |  30 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657600"/>
            <a:ext cx="3047695" cy="274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</a:rPr>
              <a:t>   INTE</a:t>
            </a:r>
            <a:r>
              <a:rPr sz="1600" b="1">
                <a:solidFill>
                  <a:srgbClr val="D69E2E"/>
                </a:solidFill>
              </a:rPr>
              <a:t>IA</a:t>
            </a:r>
            <a:r>
              <a:rPr sz="1400">
                <a:solidFill>
                  <a:srgbClr val="FFFFFF"/>
                </a:solidFill>
              </a:rPr>
              <a:t>   |   FASE 2: VARREDURA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Protocolo de Pesquisa Jurídica com IA</a:t>
            </a:r>
          </a:p>
          <a:p>
            <a:r>
              <a:rPr sz="1600">
                <a:solidFill>
                  <a:srgbClr val="7A7A7A"/>
                </a:solidFill>
              </a:rPr>
              <a:t>Os 4 passos obrigatórios — sem isso, a IA inventa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65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BUSCAR NA INTERNET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31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4A4A"/>
                </a:solidFill>
              </a:rPr>
              <a:t>Sempre ativar busca web antes de pesquisar. Pesquisa Profunda (ChatGPT) ou Perplexity.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063240"/>
            <a:ext cx="548640" cy="54864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017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EXIGIR 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4A4A"/>
                </a:solidFill>
              </a:rPr>
              <a:t>Toda citação deve vir com link direto para o tribunal. Sem link = não existe.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690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RACIOCINIO APROFUNDADO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434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4A4A"/>
                </a:solidFill>
              </a:rPr>
              <a:t>Ativar Thinking/Reasoning (ChatGPT) ou Pensamento Estendido (Claude).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5166360"/>
            <a:ext cx="548640" cy="54864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1206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AUTOCHECAGEM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4A4A"/>
                </a:solidFill>
              </a:rPr>
              <a:t>"Revise todas as citações. Confirme que cada link funciona."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</a:rPr>
              <a:t>   INTE</a:t>
            </a:r>
            <a:r>
              <a:rPr sz="1600" b="1">
                <a:solidFill>
                  <a:srgbClr val="D69E2E"/>
                </a:solidFill>
              </a:rPr>
              <a:t>IA</a:t>
            </a:r>
            <a:r>
              <a:rPr sz="1400">
                <a:solidFill>
                  <a:srgbClr val="FFFFFF"/>
                </a:solidFill>
              </a:rPr>
              <a:t>   |   FASE 2: VARREDURA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777240"/>
            <a:ext cx="2743200" cy="45720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EXERCÍCIO 2+3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777240"/>
            <a:ext cx="228600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TEMPO: 20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Pesquisa + Verificação de Links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EXERCÍCIO 2 (13 min):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  Pesquisar: "horas extras gerente bancário TST"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  Usar Protocolo: buscar na internet, exigir links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EXERCÍCIO 3 (7 min):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  Clicar em CADA link que a IA trouxe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  Quantos existem de verdade? Anotar % de acerto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"Quando busca na internet com link = funciona."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"Quando inventa de cabeca = falha."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</a:rPr>
              <a:t>   INTE</a:t>
            </a:r>
            <a:r>
              <a:rPr sz="1600" b="1">
                <a:solidFill>
                  <a:srgbClr val="D69E2E"/>
                </a:solidFill>
              </a:rPr>
              <a:t>IA</a:t>
            </a:r>
            <a:r>
              <a:rPr sz="1400">
                <a:solidFill>
                  <a:srgbClr val="FFFFFF"/>
                </a:solidFill>
              </a:rPr>
              <a:t>   |   FASE 2: VARREDURA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Regulação — O que ja existe</a:t>
            </a:r>
          </a:p>
          <a:p>
            <a:r>
              <a:rPr sz="1600">
                <a:solidFill>
                  <a:srgbClr val="7A7A7A"/>
                </a:solidFill>
              </a:rPr>
              <a:t>Não e futuro. Ja esta valendo.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474720" cy="365760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172A"/>
                </a:solidFill>
              </a:rPr>
              <a:t>CNJ 615/2025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7A7A7A"/>
                </a:solidFill>
              </a:rPr>
              <a:t>Resolução sobre IA no Poder Judiciário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4A4A4A"/>
                </a:solidFill>
              </a:rPr>
              <a:t>Normas para uso responsável de IA.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A4A4A"/>
                </a:solidFill>
              </a:rPr>
              <a:t>Tribunais tem 12 meses para se adequar.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A4A4A"/>
                </a:solidFill>
              </a:rPr>
              <a:t>IA não substitui magistrados.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011680"/>
            <a:ext cx="3474720" cy="365760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172A"/>
                </a:solidFill>
              </a:rPr>
              <a:t>OAB 001/2024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432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7A7A7A"/>
                </a:solidFill>
              </a:rPr>
              <a:t>Recomendação para uso de IA na advocacia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004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4A4A4A"/>
                </a:solidFill>
              </a:rPr>
              <a:t>Advogado deve informar cliente sobre uso de IA.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A4A4A"/>
                </a:solidFill>
              </a:rPr>
              <a:t>Responsabilidade integral do advogado.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A4A4A"/>
                </a:solidFill>
              </a:rPr>
              <a:t>IA não exerce atividade privativa.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011680"/>
            <a:ext cx="3474720" cy="36576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EF4444"/>
                </a:solidFill>
              </a:rPr>
              <a:t>Caso EUA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432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7A7A7A"/>
                </a:solidFill>
              </a:rPr>
              <a:t>Advogado sancionado por citações falsas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2004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4A4A4A"/>
                </a:solidFill>
              </a:rPr>
              <a:t>Usou ChatGPT sem verificar.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A4A4A"/>
                </a:solidFill>
              </a:rPr>
              <a:t>Citou 6 casos que não existem.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A4A4A"/>
                </a:solidFill>
              </a:rPr>
              <a:t>Multado + repreensão pública.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D69E2E"/>
                </a:solidFill>
              </a:rPr>
              <a:t>FASE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ARSENAL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D69E2E"/>
                </a:solidFill>
              </a:rPr>
              <a:t>"Carreguem o arsenal. Cada ferramenta é uma arma."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</a:rPr>
              <a:t>DIA 1  |  16:00 - 16:35  |  35 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657600"/>
            <a:ext cx="3047695" cy="274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</a:rPr>
              <a:t>   INTE</a:t>
            </a:r>
            <a:r>
              <a:rPr sz="1600" b="1">
                <a:solidFill>
                  <a:srgbClr val="D69E2E"/>
                </a:solidFill>
              </a:rPr>
              <a:t>IA</a:t>
            </a:r>
            <a:r>
              <a:rPr sz="1400">
                <a:solidFill>
                  <a:srgbClr val="FFFFFF"/>
                </a:solidFill>
              </a:rPr>
              <a:t>   |   FASE 3: ARSENAL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Mapa de Ferramentas</a:t>
            </a:r>
          </a:p>
          <a:p>
            <a:r>
              <a:rPr sz="1600">
                <a:solidFill>
                  <a:srgbClr val="7A7A7A"/>
                </a:solidFill>
              </a:rPr>
              <a:t>5 ferramentas, forças e fraquezas. Sem ilusões.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114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/>
                        </a:rPr>
                        <a:t>Ferramenta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/>
                        </a:rPr>
                        <a:t>Força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/>
                        </a:rPr>
                        <a:t>Usar para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ChatGPT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Pesquisa Profunda, Thinking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Pesquisa com fontes, rascunhos em massa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Claude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Pensamento Estendido, textos longos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Pareceres, análise de contratos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Perplexity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Fontes nativas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Jurisprudência com citação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NotebookLM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Documentos longos, 1M tokens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Processos volumosos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Gemini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Pesquisa Profunda, OCR, multimodal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Docs digitalizados, imagens, Google Drive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</a:rPr>
              <a:t>   INTE</a:t>
            </a:r>
            <a:r>
              <a:rPr sz="1600" b="1">
                <a:solidFill>
                  <a:srgbClr val="D69E2E"/>
                </a:solidFill>
              </a:rPr>
              <a:t>IA</a:t>
            </a:r>
            <a:r>
              <a:rPr sz="1400">
                <a:solidFill>
                  <a:srgbClr val="FFFFFF"/>
                </a:solidFill>
              </a:rPr>
              <a:t>   |   FASE 3: ARSENAL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777240"/>
            <a:ext cx="2743200" cy="45720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EXERCÍCIO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777240"/>
            <a:ext cx="228600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TEMPO: 20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Comparativo: ChatGPT vs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1. Use o MESMO caso de defesa do Exercício 1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2. Envie para o ChatGPT — peça contestação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3. Envie para o Claude — peça contestação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4. Compare lado a lado: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   - Qual estruturou melhor?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   - Qual pesquisou melhor jurisprudência?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   - Qual você usaria no escritorio?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"Cada ferramenta tem força diferente. Conheca antes de escolher."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</a:rPr>
              <a:t>   INTE</a:t>
            </a:r>
            <a:r>
              <a:rPr sz="1600" b="1">
                <a:solidFill>
                  <a:srgbClr val="D69E2E"/>
                </a:solidFill>
              </a:rPr>
              <a:t>IA</a:t>
            </a:r>
            <a:r>
              <a:rPr sz="1400">
                <a:solidFill>
                  <a:srgbClr val="FFFFFF"/>
                </a:solidFill>
              </a:rPr>
              <a:t>   |   FASE 3: ARSENAL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Método CLEAR</a:t>
            </a:r>
          </a:p>
          <a:p>
            <a:r>
              <a:rPr sz="1600">
                <a:solidFill>
                  <a:srgbClr val="7A7A7A"/>
                </a:solidFill>
              </a:rPr>
              <a:t>A diferenca entre resultado genérico e resultado profissional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640080" cy="64008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011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Contexto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331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7A7A7A"/>
                </a:solidFill>
              </a:rPr>
              <a:t>"Sou advogado de escritorio serviço completo, atuo em [área]..."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0360"/>
            <a:ext cx="640080" cy="64008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880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Limite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200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7A7A7A"/>
                </a:solidFill>
              </a:rPr>
              <a:t>"Não cite sem link. Foque em teses consolidadas."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49039"/>
            <a:ext cx="640080" cy="64008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74903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Exemplo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06907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7A7A7A"/>
                </a:solidFill>
              </a:rPr>
              <a:t>"Estrutura: qualificacao, sintese, preliminares, merito, pedidos."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617720"/>
            <a:ext cx="640080" cy="64008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6177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Audiência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937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7A7A7A"/>
                </a:solidFill>
              </a:rPr>
              <a:t>"Juiz de vara trabalhista de Brasilia" ou "Diretor jurídico"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486400"/>
            <a:ext cx="640080" cy="64008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4864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806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7A7A7A"/>
                </a:solidFill>
              </a:rPr>
              <a:t>"Advogado experiente em [área], linguagem técnica e objetiva"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217920"/>
            <a:ext cx="105156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B7791F"/>
                </a:solidFill>
              </a:rPr>
              <a:t>12 Cartas CLEAR com prompts prontos: link enviado no chat</a:t>
            </a:r>
          </a:p>
        </p:txBody>
      </p:sp>
      <p:pic>
        <p:nvPicPr>
          <p:cNvPr id="22" name="Picture 21" descr="qr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438912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D69E2E"/>
                </a:solidFill>
              </a:rPr>
              <a:t>FASE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ESCUDO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D69E2E"/>
                </a:solidFill>
              </a:rPr>
              <a:t>"Todo sistema precisa de proteção. Este é o escudo."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</a:rPr>
              <a:t>DIA 1  |  16:35 - 17:00  |  25 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657600"/>
            <a:ext cx="3047695" cy="274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</a:rPr>
              <a:t>   INTE</a:t>
            </a:r>
            <a:r>
              <a:rPr sz="1600" b="1">
                <a:solidFill>
                  <a:srgbClr val="D69E2E"/>
                </a:solidFill>
              </a:rPr>
              <a:t>IA</a:t>
            </a:r>
            <a:r>
              <a:rPr sz="1400">
                <a:solidFill>
                  <a:srgbClr val="FFFFFF"/>
                </a:solidFill>
              </a:rPr>
              <a:t>   |   FASE 4: ESCUDO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Protocolo de Segurança</a:t>
            </a:r>
          </a:p>
          <a:p>
            <a:r>
              <a:rPr sz="1600">
                <a:solidFill>
                  <a:srgbClr val="7A7A7A"/>
                </a:solidFill>
              </a:rPr>
              <a:t>5 regras inegociáveis para usar IA no escritorio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659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Anonimizar SEMPRE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31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A4A4A"/>
                </a:solidFill>
              </a:rPr>
              <a:t>Nomes fictícios, dados mascarados. Nunca dados reais na IA.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88036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8346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Verificar TODA citação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00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A4A4A"/>
                </a:solidFill>
              </a:rPr>
              <a:t>Link verificável ou não existe. Clicar em cada um.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749039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703319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Revisar TUDO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06907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A4A4A"/>
                </a:solidFill>
              </a:rPr>
              <a:t>Resposta da IA e rascunho, não produto final. Sempre revisar.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61772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5720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Registrar uso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937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A4A4A"/>
                </a:solidFill>
              </a:rPr>
              <a:t>Transparência: CNJ 615/2025 exige registro de uso de IA.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48640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4406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Humano decide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806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A4A4A"/>
                </a:solidFill>
              </a:rPr>
              <a:t>IA sugere, advogado assina. Responsabilidade e sua.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</a:rPr>
              <a:t>   INTE</a:t>
            </a:r>
            <a:r>
              <a:rPr sz="1600" b="1">
                <a:solidFill>
                  <a:srgbClr val="D69E2E"/>
                </a:solidFill>
              </a:rPr>
              <a:t>IA</a:t>
            </a:r>
            <a:r>
              <a:rPr sz="1400">
                <a:solidFill>
                  <a:srgbClr val="FFFFFF"/>
                </a:solidFill>
              </a:rPr>
              <a:t>   |   FASE 4: ESCUDO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777240"/>
            <a:ext cx="2743200" cy="45720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EXERCÍCIO 5 (MINI)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777240"/>
            <a:ext cx="228600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TEMPO: 10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Anonimização na prática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1. Pegue um trecho de caso REAL do escritorio (no celular ou de memoria)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2. Anonimize: troque nomes, mascare CPFs, altere valores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3. Envie o trecho anonimizado para a IA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4. Peça análise ou contestação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Antes: "Maria Silva, CPF 123.456.789-00, salário R$ 2.800"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Depois: "Reclamante X, dados anonimizados, remuneração de 1 SM"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Dia 1 concluído.</a:t>
            </a:r>
          </a:p>
          <a:p>
            <a:pPr algn="ctr">
              <a:spcBef>
                <a:spcPts val="3000"/>
              </a:spcBef>
            </a:pPr>
            <a:r>
              <a:rPr sz="2200">
                <a:solidFill>
                  <a:srgbClr val="7A7A7A"/>
                </a:solidFill>
              </a:rPr>
              <a:t>Tarefa para amanhã:</a:t>
            </a:r>
          </a:p>
          <a:p>
            <a:pPr algn="ctr">
              <a:spcBef>
                <a:spcPts val="2000"/>
              </a:spcBef>
            </a:pPr>
            <a:r>
              <a:rPr sz="3200" b="1" i="1">
                <a:solidFill>
                  <a:srgbClr val="D69E2E"/>
                </a:solidFill>
              </a:rPr>
              <a:t>"Até amanhã, usem IA em algo real.
Tragam a experiência."</a:t>
            </a:r>
          </a:p>
          <a:p>
            <a:pPr algn="ctr">
              <a:spcBef>
                <a:spcPts val="4000"/>
              </a:spcBef>
            </a:pPr>
            <a:r>
              <a:rPr sz="1800">
                <a:solidFill>
                  <a:srgbClr val="64748B"/>
                </a:solidFill>
              </a:rPr>
              <a:t>Sexta-feira, 07/02  |  10h - 12h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DIA 2</a:t>
            </a:r>
          </a:p>
          <a:p>
            <a:pPr algn="ctr">
              <a:spcBef>
                <a:spcPts val="1000"/>
              </a:spcBef>
            </a:pPr>
            <a:r>
              <a:rPr sz="2400">
                <a:solidFill>
                  <a:srgbClr val="D69E2E"/>
                </a:solidFill>
              </a:rPr>
              <a:t>Sexta-feira, 07 de fevereiro  |  10h - 12h</a:t>
            </a:r>
          </a:p>
          <a:p>
            <a:pPr algn="ctr">
              <a:spcBef>
                <a:spcPts val="2000"/>
              </a:spcBef>
            </a:pPr>
            <a:r>
              <a:rPr sz="1800">
                <a:solidFill>
                  <a:srgbClr val="94A3B8"/>
                </a:solidFill>
              </a:rPr>
              <a:t>Caso completo  +  Jurimetria  +  Ativação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5029200"/>
            <a:ext cx="3047695" cy="274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</a:rPr>
              <a:t>   INTE</a:t>
            </a:r>
            <a:r>
              <a:rPr sz="1600" b="1">
                <a:solidFill>
                  <a:srgbClr val="D69E2E"/>
                </a:solidFill>
              </a:rPr>
              <a:t>IA</a:t>
            </a:r>
            <a:r>
              <a:rPr sz="1400">
                <a:solidFill>
                  <a:srgbClr val="FFFFFF"/>
                </a:solidFill>
              </a:rPr>
              <a:t>   |   DIA 2 — Sexta 07/02 — 10h-12h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Agenda — Dia 2</a:t>
            </a:r>
          </a:p>
          <a:p>
            <a:r>
              <a:rPr sz="1600">
                <a:solidFill>
                  <a:srgbClr val="7A7A7A"/>
                </a:solidFill>
              </a:rPr>
              <a:t>Sexta-feira, 07 de fevereiro  |  10h - 12h  |  120 minutos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114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/>
                        </a:rPr>
                        <a:t>Fase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/>
                        </a:rPr>
                        <a:t>Horário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/>
                        </a:rPr>
                        <a:t>Duração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/>
                        </a:rPr>
                        <a:t>Tema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5. TESTE DE CAMPO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10:00 - 10:55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55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Caso completo — fluxo de defesa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6. ANÁLISE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10:55 - 11:35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40 min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Jurimetria para contencioso de massa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7. ATIVAÇÃO COMPLETA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11:35 - 12:00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25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Recursos + Compromisso + Encerramento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389120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7A7A7A"/>
                </a:solidFill>
              </a:rPr>
              <a:t>2 exercícios (1 completo + 1 mini)  |  71% prática  |  29% instrução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D69E2E"/>
                </a:solidFill>
              </a:rPr>
              <a:t>FASE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TESTE DE
CAMPO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D69E2E"/>
                </a:solidFill>
              </a:rPr>
              <a:t>"Caso real. Mostrem o que ativaram."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</a:rPr>
              <a:t>DIA 2  |  10:00 - 10:55  |  55 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657600"/>
            <a:ext cx="3047695" cy="274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</a:rPr>
              <a:t>   INTE</a:t>
            </a:r>
            <a:r>
              <a:rPr sz="1600" b="1">
                <a:solidFill>
                  <a:srgbClr val="D69E2E"/>
                </a:solidFill>
              </a:rPr>
              <a:t>IA</a:t>
            </a:r>
            <a:r>
              <a:rPr sz="1400">
                <a:solidFill>
                  <a:srgbClr val="FFFFFF"/>
                </a:solidFill>
              </a:rPr>
              <a:t>   |   FASE 5: TESTE DE CAMPO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F172A"/>
                </a:solidFill>
              </a:rPr>
              <a:t>O que tentaram ontem?
O que funcionou?</a:t>
            </a:r>
          </a:p>
          <a:p>
            <a:pPr algn="ctr">
              <a:spcBef>
                <a:spcPts val="3000"/>
              </a:spcBef>
            </a:pPr>
            <a:r>
              <a:rPr sz="2000">
                <a:solidFill>
                  <a:srgbClr val="7A7A7A"/>
                </a:solidFill>
              </a:rPr>
              <a:t>Online responde primeiro — chat ou microfone
Celebrar as tentativas!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</a:rPr>
              <a:t>   INTE</a:t>
            </a:r>
            <a:r>
              <a:rPr sz="1600" b="1">
                <a:solidFill>
                  <a:srgbClr val="D69E2E"/>
                </a:solidFill>
              </a:rPr>
              <a:t>IA</a:t>
            </a:r>
            <a:r>
              <a:rPr sz="1400">
                <a:solidFill>
                  <a:srgbClr val="FFFFFF"/>
                </a:solidFill>
              </a:rPr>
              <a:t>   |   FASE 5: TESTE DE CAMPO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Caso Fictício — Dispensa Discriminatória</a:t>
            </a:r>
          </a:p>
          <a:p>
            <a:r>
              <a:rPr sz="1600">
                <a:solidFill>
                  <a:srgbClr val="7A7A7A"/>
                </a:solidFill>
              </a:rPr>
              <a:t>Escritorio defende a empresa  |  DADOS FICTÍCIOS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</a:rPr>
              <a:t>FATOS ALEGADOS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  Reclamante: Maria Silva Santos, 52 anos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  Cargo: Auxiliar administrativa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  Período: 15/03/2018 a 10/01/2026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  Salário: R$ 2.800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  Dispensada apos retorno de licenca (sindrome do panico)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  Empresa contratou funcionaria de 24 anos, salário R$ 2.200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  Alega que gerente disse: "precisamos de sangue novo"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B7791F"/>
                </a:solidFill>
              </a:rPr>
              <a:t>MISSÃO (DEFESA)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1. Pesquisar jurisprudência favorável a empresa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2. Gerar contestação impugnando: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   - Discriminação (negar)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   - Nexo causal (inexistente)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   - Testemunho indireto (ouvir dizer)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3. Teses possíveis: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   - Reestruturação legítima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   - Poder diretivo do empregador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   - Ausência de prova direta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</a:rPr>
              <a:t>   INTE</a:t>
            </a:r>
            <a:r>
              <a:rPr sz="1600" b="1">
                <a:solidFill>
                  <a:srgbClr val="D69E2E"/>
                </a:solidFill>
              </a:rPr>
              <a:t>IA</a:t>
            </a:r>
            <a:r>
              <a:rPr sz="1400">
                <a:solidFill>
                  <a:srgbClr val="FFFFFF"/>
                </a:solidFill>
              </a:rPr>
              <a:t>   |   FASE 5: TESTE DE CAMPO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777240"/>
            <a:ext cx="2743200" cy="45720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EXERCÍCIO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777240"/>
            <a:ext cx="228600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TEMPO: 40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Fluxo Completo de Defesa — 3 Etapas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pt-BR" sz="1800" b="1" dirty="0">
                <a:solidFill>
                  <a:srgbClr val="333333"/>
                </a:solidFill>
              </a:rPr>
              <a:t>ETAPA 1 — PESQUISA (12 min)</a:t>
            </a:r>
          </a:p>
          <a:p>
            <a:pPr>
              <a:spcAft>
                <a:spcPts val="400"/>
              </a:spcAft>
            </a:pPr>
            <a:r>
              <a:rPr lang="pt-BR" sz="1800" b="0" dirty="0">
                <a:solidFill>
                  <a:srgbClr val="333333"/>
                </a:solidFill>
              </a:rPr>
              <a:t>  Pesquisar jurisprudência de defesa com Protocolo</a:t>
            </a:r>
          </a:p>
          <a:p>
            <a:pPr>
              <a:spcAft>
                <a:spcPts val="400"/>
              </a:spcAft>
            </a:pPr>
            <a:r>
              <a:rPr lang="pt-BR" sz="1800" b="0" dirty="0">
                <a:solidFill>
                  <a:srgbClr val="333333"/>
                </a:solidFill>
              </a:rPr>
              <a:t>  Busca -&gt; Link -&gt; Thinking -&gt; Checagem</a:t>
            </a:r>
          </a:p>
          <a:p>
            <a:pPr>
              <a:spcAft>
                <a:spcPts val="400"/>
              </a:spcAft>
              <a:spcBef>
                <a:spcPts val="1000"/>
              </a:spcBef>
            </a:pPr>
            <a:r>
              <a:rPr lang="pt-BR" sz="1800" b="1" dirty="0">
                <a:solidFill>
                  <a:srgbClr val="333333"/>
                </a:solidFill>
              </a:rPr>
              <a:t>ETAPA 2 — MINUTA (18 min)</a:t>
            </a:r>
          </a:p>
          <a:p>
            <a:pPr>
              <a:spcAft>
                <a:spcPts val="400"/>
              </a:spcAft>
            </a:pPr>
            <a:r>
              <a:rPr lang="pt-BR" sz="1800" b="0" dirty="0">
                <a:solidFill>
                  <a:srgbClr val="333333"/>
                </a:solidFill>
              </a:rPr>
              <a:t>  Gerar contestação aplicando CLEAR</a:t>
            </a:r>
          </a:p>
          <a:p>
            <a:pPr>
              <a:spcAft>
                <a:spcPts val="400"/>
              </a:spcAft>
            </a:pPr>
            <a:r>
              <a:rPr lang="pt-BR" sz="1800" b="0" dirty="0">
                <a:solidFill>
                  <a:srgbClr val="333333"/>
                </a:solidFill>
              </a:rPr>
              <a:t>  Impugnar ponto a ponto</a:t>
            </a:r>
          </a:p>
          <a:p>
            <a:pPr>
              <a:spcAft>
                <a:spcPts val="400"/>
              </a:spcAft>
              <a:spcBef>
                <a:spcPts val="1000"/>
              </a:spcBef>
            </a:pPr>
            <a:r>
              <a:rPr lang="pt-BR" sz="1800" b="1" dirty="0">
                <a:solidFill>
                  <a:srgbClr val="333333"/>
                </a:solidFill>
              </a:rPr>
              <a:t>ETAPA 3 — VERIFICAÇÃO (10 min)</a:t>
            </a:r>
          </a:p>
          <a:p>
            <a:pPr>
              <a:spcAft>
                <a:spcPts val="400"/>
              </a:spcAft>
            </a:pPr>
            <a:r>
              <a:rPr lang="pt-BR" sz="1800" b="0" dirty="0">
                <a:solidFill>
                  <a:srgbClr val="333333"/>
                </a:solidFill>
              </a:rPr>
              <a:t>  Checar links, pedir autochecagem, revisar</a:t>
            </a:r>
          </a:p>
          <a:p>
            <a:pPr>
              <a:spcAft>
                <a:spcPts val="400"/>
              </a:spcAft>
              <a:spcBef>
                <a:spcPts val="1000"/>
              </a:spcBef>
            </a:pPr>
            <a:r>
              <a:rPr lang="pt-BR" sz="1800" b="1" dirty="0">
                <a:solidFill>
                  <a:srgbClr val="333333"/>
                </a:solidFill>
              </a:rPr>
              <a:t>INDIVIDUAL — Instrutor circula e monitora chat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</a:rPr>
              <a:t>   INTE</a:t>
            </a:r>
            <a:r>
              <a:rPr sz="1600" b="1">
                <a:solidFill>
                  <a:srgbClr val="D69E2E"/>
                </a:solidFill>
              </a:rPr>
              <a:t>IA</a:t>
            </a:r>
            <a:r>
              <a:rPr sz="1400">
                <a:solidFill>
                  <a:srgbClr val="FFFFFF"/>
                </a:solidFill>
              </a:rPr>
              <a:t>   |   FASE 5: TESTE DE CAMPO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F172A"/>
                </a:solidFill>
              </a:rPr>
              <a:t>Onde a IA ajudou mais?
Onde a IA atrapalhou?</a:t>
            </a:r>
          </a:p>
          <a:p>
            <a:pPr algn="ctr">
              <a:spcBef>
                <a:spcPts val="3000"/>
              </a:spcBef>
            </a:pPr>
            <a:r>
              <a:rPr sz="2000">
                <a:solidFill>
                  <a:srgbClr val="7A7A7A"/>
                </a:solidFill>
              </a:rPr>
              <a:t>2-3 relatos (mix online + presencial)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D69E2E"/>
                </a:solidFill>
              </a:rPr>
              <a:t>FASE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ANÁLISE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D69E2E"/>
                </a:solidFill>
              </a:rPr>
              <a:t>"Dados onde outros veem caos. O nível estratégico."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</a:rPr>
              <a:t>DIA 2  |  10:55 - 11:35  |  40 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657600"/>
            <a:ext cx="3047695" cy="274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</a:rPr>
              <a:t>   INTE</a:t>
            </a:r>
            <a:r>
              <a:rPr sz="1600" b="1">
                <a:solidFill>
                  <a:srgbClr val="D69E2E"/>
                </a:solidFill>
              </a:rPr>
              <a:t>IA</a:t>
            </a:r>
            <a:r>
              <a:rPr sz="1400">
                <a:solidFill>
                  <a:srgbClr val="FFFFFF"/>
                </a:solidFill>
              </a:rPr>
              <a:t>   |   FASE 6: ANÁLISE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Jurimetria</a:t>
            </a:r>
          </a:p>
          <a:p>
            <a:r>
              <a:rPr sz="1600">
                <a:solidFill>
                  <a:srgbClr val="7A7A7A"/>
                </a:solidFill>
              </a:rPr>
              <a:t>Dados + Estatística aplicados ao Direito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084832"/>
            <a:ext cx="228600" cy="22860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9659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Provisão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0116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4A4A"/>
                </a:solidFill>
              </a:rPr>
              <a:t>Estimar valor de risco por tipo de acao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862072"/>
            <a:ext cx="228600" cy="22860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7432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Estratégia de acordo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788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4A4A"/>
                </a:solidFill>
              </a:rPr>
              <a:t>Identificar quando acordo e mais barato que litigar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639312"/>
            <a:ext cx="228600" cy="22860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5204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Perfil de juiz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566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4A4A"/>
                </a:solidFill>
              </a:rPr>
              <a:t>Padrões decisórios por vara/magistrado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416552"/>
            <a:ext cx="228600" cy="22860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2976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Alocação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343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4A4A"/>
                </a:solidFill>
              </a:rPr>
              <a:t>Priorizar casos com maior risco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193792"/>
            <a:ext cx="228600" cy="22860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5074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Relatório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5120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4A4A"/>
                </a:solidFill>
              </a:rPr>
              <a:t>Dados concretos para o cliente, não 'achismo'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B7791F"/>
                </a:solidFill>
              </a:rPr>
              <a:t>"Jurimetria muda a estratégia de contencioso de massa."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</a:rPr>
              <a:t>   INTE</a:t>
            </a:r>
            <a:r>
              <a:rPr sz="1600" b="1">
                <a:solidFill>
                  <a:srgbClr val="D69E2E"/>
                </a:solidFill>
              </a:rPr>
              <a:t>IA</a:t>
            </a:r>
            <a:r>
              <a:rPr sz="1400">
                <a:solidFill>
                  <a:srgbClr val="FFFFFF"/>
                </a:solidFill>
              </a:rPr>
              <a:t>   |   FASE 6: ANÁLISE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777240"/>
            <a:ext cx="2743200" cy="45720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EXERCÍCIO 7 (MINI)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777240"/>
            <a:ext cx="228600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TEMPO: 8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Pergunta Jurimetrica a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Pergunte a IA: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"Qual o perfil decisório da [vara/juiz] em [tema do escritorio]?"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Exemplos: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  "Qual o % de condenação em horas extras na 3a Vara de Brasilia?"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  "Qual o valor médio de indenização por dano moral no TRT-10?"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Compare a resposta com sua experiência real.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A IA acertou? Errou? Onde os dados falharam?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</a:rPr>
              <a:t>   INTE</a:t>
            </a:r>
            <a:r>
              <a:rPr sz="1600" b="1">
                <a:solidFill>
                  <a:srgbClr val="D69E2E"/>
                </a:solidFill>
              </a:rPr>
              <a:t>IA</a:t>
            </a:r>
            <a:r>
              <a:rPr sz="1400">
                <a:solidFill>
                  <a:srgbClr val="FFFFFF"/>
                </a:solidFill>
              </a:rPr>
              <a:t>   |   FASE 6: ANÁLISE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Ferramentas de Jurimetria</a:t>
            </a:r>
          </a:p>
          <a:p>
            <a:r>
              <a:rPr sz="1600">
                <a:solidFill>
                  <a:srgbClr val="7A7A7A"/>
                </a:solidFill>
              </a:rPr>
              <a:t>IA ajuda na análise, mas os dados precisam ser de fonte confiável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114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/>
                        </a:rPr>
                        <a:t>Ferramenta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/>
                        </a:rPr>
                        <a:t>O que faz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/>
                        </a:rPr>
                        <a:t>Observação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Jusbrasil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Padrões decisórios, perfil de juiz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Base mais completa do Brasil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Turivius / JUIT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Jurimetria + busca inteligente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Foco em contencioso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Jurimetrics (ABAJ)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Estatísticas por vara/tribunal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Pesquisa acadêmica + prática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IA Generativa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Análise de padrões, resumos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Validar com dados reais sempre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0292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EF4444"/>
                </a:solidFill>
              </a:rPr>
              <a:t>"IA generativa complementa, mas NÃO substitui ferramentas de dados reais."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D69E2E"/>
                </a:solidFill>
              </a:rPr>
              <a:t>FASE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ATIVAÇÃO
COMPLETA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D69E2E"/>
                </a:solidFill>
              </a:rPr>
              <a:t>"A partir de segunda-feira, vocês são diferentes."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</a:rPr>
              <a:t>DIA 2  |  11:35 - 12:00  |  25 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657600"/>
            <a:ext cx="3047695" cy="274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</a:rPr>
              <a:t>   INTE</a:t>
            </a:r>
            <a:r>
              <a:rPr sz="1600" b="1">
                <a:solidFill>
                  <a:srgbClr val="D69E2E"/>
                </a:solidFill>
              </a:rPr>
              <a:t>IA</a:t>
            </a:r>
            <a:r>
              <a:rPr sz="1400">
                <a:solidFill>
                  <a:srgbClr val="FFFFFF"/>
                </a:solidFill>
              </a:rPr>
              <a:t>   |   FASE 7: ATIVAÇÃO COMPLETA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Recursos para Continuar</a:t>
            </a:r>
          </a:p>
          <a:p>
            <a:r>
              <a:rPr sz="1600">
                <a:solidFill>
                  <a:srgbClr val="7A7A7A"/>
                </a:solidFill>
              </a:rPr>
              <a:t>Links e QR codes — escaneie ou acesse pelo link no 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172A"/>
                </a:solidFill>
              </a:rPr>
              <a:t>AB2L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0116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3B82F6"/>
                </a:solidFill>
              </a:rPr>
              <a:t>ab2l.org.br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0116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A7A7A"/>
                </a:solidFill>
              </a:rPr>
              <a:t>Associação Brasileira de Lawtechs — comunidade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172A"/>
                </a:solidFill>
              </a:rPr>
              <a:t>Podcast Direito Digital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7889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3B82F6"/>
                </a:solidFill>
              </a:rPr>
              <a:t>Spotify: Ana Frazao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7889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A7A7A"/>
                </a:solidFill>
              </a:rPr>
              <a:t>Regulação, IA e direito — episódios semanais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172A"/>
                </a:solidFill>
              </a:rPr>
              <a:t>FGV Regulação da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56616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3B82F6"/>
                </a:solidFill>
              </a:rPr>
              <a:t>educacao-executiva.fgv.br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5661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A7A7A"/>
                </a:solidFill>
              </a:rPr>
              <a:t>Curso gratuito, 1h, 6.400+ alunos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434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172A"/>
                </a:solidFill>
              </a:rPr>
              <a:t>CNJ 615/2025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34340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3B82F6"/>
                </a:solidFill>
              </a:rPr>
              <a:t>atos.cnj.jus.br/atos/detalhar/6001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3434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A7A7A"/>
                </a:solidFill>
              </a:rPr>
              <a:t>Resolução sobre IA no Judiciário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06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172A"/>
                </a:solidFill>
              </a:rPr>
              <a:t>12 Cartas CLEAR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12064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3B82F6"/>
                </a:solidFill>
              </a:rPr>
              <a:t>igormorais123.github.io/curso-ia-paixão-cortes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51206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A7A7A"/>
                </a:solidFill>
              </a:rPr>
              <a:t>Prompts prontos para todas as áreas</a:t>
            </a:r>
          </a:p>
        </p:txBody>
      </p:sp>
      <p:pic>
        <p:nvPicPr>
          <p:cNvPr id="21" name="Picture 20" descr="qr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840480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</a:rPr>
              <a:t>   INTE</a:t>
            </a:r>
            <a:r>
              <a:rPr sz="1600" b="1">
                <a:solidFill>
                  <a:srgbClr val="D69E2E"/>
                </a:solidFill>
              </a:rPr>
              <a:t>IA</a:t>
            </a:r>
            <a:r>
              <a:rPr sz="1400">
                <a:solidFill>
                  <a:srgbClr val="FFFFFF"/>
                </a:solidFill>
              </a:rPr>
              <a:t>   |   FASE 7: ATIVAÇÃO COMPLETA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4484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F172A"/>
                </a:solidFill>
              </a:rPr>
              <a:t>Compromisso</a:t>
            </a:r>
          </a:p>
          <a:p>
            <a:pPr algn="ctr">
              <a:spcBef>
                <a:spcPts val="3000"/>
              </a:spcBef>
            </a:pPr>
            <a:r>
              <a:rPr sz="3200" i="1">
                <a:solidFill>
                  <a:srgbClr val="D69E2E"/>
                </a:solidFill>
              </a:rPr>
              <a:t>"Na segunda-feira, vou usar IA para _____."</a:t>
            </a:r>
          </a:p>
          <a:p>
            <a:pPr algn="ctr">
              <a:spcBef>
                <a:spcPts val="3000"/>
              </a:spcBef>
            </a:pPr>
            <a:r>
              <a:rPr sz="2200">
                <a:solidFill>
                  <a:srgbClr val="4A4A4A"/>
                </a:solidFill>
              </a:rPr>
              <a:t>Escreva no papel ou digite no chat.
Agora.</a:t>
            </a:r>
          </a:p>
          <a:p>
            <a:pPr algn="ctr">
              <a:spcBef>
                <a:spcPts val="3000"/>
              </a:spcBef>
            </a:pPr>
            <a:r>
              <a:rPr sz="1600">
                <a:solidFill>
                  <a:srgbClr val="7A7A7A"/>
                </a:solidFill>
              </a:rPr>
              <a:t>3-4 voluntários compartilham (mix online + presencial)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0" y="548640"/>
            <a:ext cx="1920240" cy="192024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00" b="1">
                <a:solidFill>
                  <a:srgbClr val="D69E2E"/>
                </a:solidFill>
              </a:rPr>
              <a:t>
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Protocolo ativado.</a:t>
            </a:r>
          </a:p>
          <a:p>
            <a:pPr algn="ctr">
              <a:spcBef>
                <a:spcPts val="2000"/>
              </a:spcBef>
            </a:pPr>
            <a:r>
              <a:rPr sz="2400" i="1">
                <a:solidFill>
                  <a:srgbClr val="D69E2E"/>
                </a:solidFill>
              </a:rPr>
              <a:t>3 cidades, uma equipe.
A partir de segunda, vocês operam diferente.</a:t>
            </a:r>
          </a:p>
          <a:p>
            <a:pPr algn="ctr">
              <a:spcBef>
                <a:spcPts val="4000"/>
              </a:spcBef>
            </a:pPr>
            <a:r>
              <a:rPr sz="1400">
                <a:solidFill>
                  <a:srgbClr val="94A3B8"/>
                </a:solidFill>
              </a:rPr>
              <a:t>INTEIA — Instituto de Treinamento e Estudos em IA</a:t>
            </a:r>
          </a:p>
          <a:p>
            <a:pPr algn="ctr"/>
            <a:r>
              <a:rPr sz="1200">
                <a:solidFill>
                  <a:srgbClr val="64748B"/>
                </a:solidFill>
              </a:rPr>
              <a:t>Dr. Igor Morais Vasconcelos  |  igormorais123@gmail.com  |  (61) 98115-7120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2560320"/>
            <a:ext cx="3962095" cy="274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r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114800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