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0" y="548640"/>
            <a:ext cx="1920240" cy="19202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00" b="1">
                <a:solidFill>
                  <a:srgbClr val="FFFFFF"/>
                </a:solidFill>
              </a:rPr>
              <a:t>
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651760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69E2E"/>
                </a:solidFill>
              </a:rPr>
              <a:t>INTEIA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O PROTOCOLO</a:t>
            </a:r>
          </a:p>
          <a:p>
            <a:pPr algn="ctr"/>
            <a:r>
              <a:rPr sz="2600" i="1">
                <a:solidFill>
                  <a:srgbClr val="D69E2E"/>
                </a:solidFill>
              </a:rPr>
              <a:t>Ativacao do Advogado Aumentado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572000"/>
            <a:ext cx="39620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FFFFFF"/>
                </a:solidFill>
              </a:rPr>
              <a:t>Paixao Cortes Advogados</a:t>
            </a:r>
          </a:p>
          <a:p>
            <a:pPr algn="ctr"/>
            <a:r>
              <a:rPr sz="1600">
                <a:solidFill>
                  <a:srgbClr val="94A3B8"/>
                </a:solidFill>
              </a:rPr>
              <a:t>Curso Pratico de IA na Advocacia  |  4 horas  |  Hibrido</a:t>
            </a:r>
          </a:p>
          <a:p>
            <a:pPr algn="ctr"/>
            <a:r>
              <a:rPr sz="1400">
                <a:solidFill>
                  <a:srgbClr val="64748B"/>
                </a:solidFill>
              </a:rPr>
              <a:t>Dr. Igor Morais Vasconcelos  |  Fevereiro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</a:pPr>
            <a:r>
              <a:rPr sz="3400" i="1">
                <a:solidFill>
                  <a:srgbClr val="FFFFFF"/>
                </a:solidFill>
              </a:rPr>
              <a:t>"Paixao Cortes. 3 cidades.
Milhares de causas ganhas.
Tudo isso, no braco."</a:t>
            </a:r>
          </a:p>
          <a:p>
            <a:pPr algn="ctr">
              <a:spcBef>
                <a:spcPts val="3000"/>
              </a:spcBef>
            </a:pPr>
            <a:r>
              <a:rPr sz="3600" b="1">
                <a:solidFill>
                  <a:srgbClr val="D69E2E"/>
                </a:solidFill>
              </a:rPr>
              <a:t>Imaginem tudo isso —
com o protocolo ativado.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09728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DIA 1 — Quinta 06/02 — 15h-17h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6142E"/>
                </a:solidFill>
              </a:rPr>
              <a:t>Agenda — Dia 1</a:t>
            </a:r>
          </a:p>
          <a:p>
            <a:r>
              <a:rPr sz="1600">
                <a:solidFill>
                  <a:srgbClr val="7A7A7A"/>
                </a:solidFill>
              </a:rPr>
              <a:t>Quinta-feira, 06 de fevereiro  |  15h - 17h  |  120 minutos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6614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Horario</a:t>
                      </a:r>
                    </a:p>
                  </a:txBody>
                  <a:tcPr>
                    <a:solidFill>
                      <a:srgbClr val="6614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Duracao</a:t>
                      </a:r>
                    </a:p>
                  </a:txBody>
                  <a:tcPr>
                    <a:solidFill>
                      <a:srgbClr val="6614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Tema</a:t>
                      </a:r>
                    </a:p>
                  </a:txBody>
                  <a:tcPr>
                    <a:solidFill>
                      <a:srgbClr val="6614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1. BOOT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15:00 - 15:30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Espanto + Primeiro contato com 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2. SCANNER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15:30 - 16:00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30 min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Pesquisa juridica + Verificacao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3. ARSENAL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16:00 - 16:35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35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Ferramentas + Pratica comparativa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4. FIREWALL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16:35 - 17:00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25 min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Seguranca + Encerramento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1206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7A7A7A"/>
                </a:solidFill>
              </a:rPr>
              <a:t>5 exercicios praticos  |  65% mao na massa  |  35% instrucao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"Primeira ativacao. Vejam a maquina operar."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1  |  15:00 - 15:30  |  30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1: BOOT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6142E"/>
                </a:solidFill>
              </a:rPr>
              <a:t>Abram suas ferramentas</a:t>
            </a:r>
          </a:p>
          <a:p>
            <a:r>
              <a:rPr sz="1600">
                <a:solidFill>
                  <a:srgbClr val="7A7A7A"/>
                </a:solidFill>
              </a:rPr>
              <a:t>Escaneie o QR code ou acesse o link no celular/notebook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34747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A37F"/>
                </a:solidFill>
              </a:rPr>
              <a:t>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7A7A7A"/>
                </a:solidFill>
              </a:rPr>
              <a:t>chatgpt.com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4A4A"/>
                </a:solidFill>
              </a:rPr>
              <a:t>A mais popular. Deep Research traz fontes com links.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011680"/>
            <a:ext cx="3291840" cy="34747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194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D69E2E"/>
                </a:solidFill>
              </a:rPr>
              <a:t>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743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7A7A7A"/>
                </a:solidFill>
              </a:rPr>
              <a:t>claude.ai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200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4A4A"/>
                </a:solidFill>
              </a:rPr>
              <a:t>O melhor para textos longos e raciocinio aprofundado.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291840" cy="34747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194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B82F6"/>
                </a:solidFill>
              </a:rPr>
              <a:t>Perplexity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7A7A7A"/>
                </a:solidFill>
              </a:rPr>
              <a:t>perplexity.ai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00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4A4A"/>
                </a:solidFill>
              </a:rPr>
              <a:t>Pesquisa com fontes nativas. Sem configurar nada.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7A7A7A"/>
                </a:solidFill>
              </a:rPr>
              <a:t>Versao gratuita ja funciona. Crie conta se ainda nao 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1: BOOT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274320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EXERCICIO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777240"/>
            <a:ext cx="2286000" cy="457200"/>
          </a:xfrm>
          <a:prstGeom prst="round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TIMER: 18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6142E"/>
                </a:solidFill>
              </a:rPr>
              <a:t>Seu primeiro prompt juridico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1. Abra ChatGPT ou Claude no celular/notebook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2. Descreva um caso REAL de defesa do escritorio (anonimize nomes)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3. Peca: "Analise os pontos fortes e fracos da defesa neste caso"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4. Leia a resposta — o que surpreendeu?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INDIVIDUAL — Cada um no seu celular/notebook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Online: mesmo exercicio, mesmo tempo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1: BOOT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6142E"/>
                </a:solidFill>
              </a:rPr>
              <a:t>O que surpreendeu?
O que decepcionou?</a:t>
            </a:r>
          </a:p>
          <a:p>
            <a:pPr algn="ctr">
              <a:spcBef>
                <a:spcPts val="3000"/>
              </a:spcBef>
            </a:pPr>
            <a:r>
              <a:rPr sz="2000">
                <a:solidFill>
                  <a:srgbClr val="7A7A7A"/>
                </a:solidFill>
              </a:rPr>
              <a:t>Online responde primeiro — chat ou microfone
Depois presencial — 2-3 relatos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SCANNER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"Visao aumentada. Voces vao enxergar o que antes era invisivel."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1  |  15:30 - 16:00  |  30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2: SCANNER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6142E"/>
                </a:solidFill>
              </a:rPr>
              <a:t>Protocolo de Pesquisa Juridica com IA</a:t>
            </a:r>
          </a:p>
          <a:p>
            <a:r>
              <a:rPr sz="1600">
                <a:solidFill>
                  <a:srgbClr val="7A7A7A"/>
                </a:solidFill>
              </a:rPr>
              <a:t>Os 4 passos obrigatorios — sem isso, a IA inventa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142E"/>
                </a:solidFill>
              </a:rPr>
              <a:t>BUSCAR NA 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31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Sempre ativar busca web antes de pesquisar. Deep Research (ChatGPT) ou Perplexity.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063240"/>
            <a:ext cx="548640" cy="54864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142E"/>
                </a:solidFill>
              </a:rPr>
              <a:t>EXIGIR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Toda citacao deve vir com link direto para o tribunal. Sem link = nao existe.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69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142E"/>
                </a:solidFill>
              </a:rPr>
              <a:t>RACIOCINIO APROFUNDADO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Ativar Thinking/Reasoning (ChatGPT) ou Extended Thinking (Claude).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166360"/>
            <a:ext cx="548640" cy="54864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120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142E"/>
                </a:solidFill>
              </a:rPr>
              <a:t>AUTOCHECAGEM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"Revise todas as citacoes. Confirme que cada link funciona."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2: SCANNER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274320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EXERCICIO 2+3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777240"/>
            <a:ext cx="2286000" cy="457200"/>
          </a:xfrm>
          <a:prstGeom prst="round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TIMER: 20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6142E"/>
                </a:solidFill>
              </a:rPr>
              <a:t>Pesquisa + Verificacao de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EXERCICIO 2 (13 min):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Pesquisar: "horas extras gerente bancario TST"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Usar Protocolo: buscar na internet, exigir links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EXERCICIO 3 (7 min):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Clicar em CADA link que a IA trouxe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Quantos existem de verdade? Anotar % de acerto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"Quando busca na internet com link = funciona."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"Quando inventa de cabeca = falha."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2: SCANNER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6142E"/>
                </a:solidFill>
              </a:rPr>
              <a:t>Regulacao — O que ja existe</a:t>
            </a:r>
          </a:p>
          <a:p>
            <a:r>
              <a:rPr sz="1600">
                <a:solidFill>
                  <a:srgbClr val="7A7A7A"/>
                </a:solidFill>
              </a:rPr>
              <a:t>Nao e futuro. Ja esta valendo.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474720" cy="36576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66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6142E"/>
                </a:solidFill>
              </a:rPr>
              <a:t>CNJ 615/2025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7A7A7A"/>
                </a:solidFill>
              </a:rPr>
              <a:t>Resolucao sobre IA no Poder Judiciario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Normas para uso responsavel de IA.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Tribunais tem 12 meses para se adequar.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IA nao substitui magistrados.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3474720" cy="36576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66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6142E"/>
                </a:solidFill>
              </a:rPr>
              <a:t>OAB 001/2024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7A7A7A"/>
                </a:solidFill>
              </a:rPr>
              <a:t>Recomendacao para uso de IA na advocacia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Advogado deve informar cliente sobre uso de IA.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Responsabilidade integral do advogado.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IA nao exerce atividade privativa.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011680"/>
            <a:ext cx="3474720" cy="36576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F4444"/>
                </a:solidFill>
              </a:rPr>
              <a:t>Caso EUA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43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7A7A7A"/>
                </a:solidFill>
              </a:rPr>
              <a:t>Advogado sancionado por citacoes falsas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Usou ChatGPT sem verificar.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Citou 6 casos que nao existem.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Multado + repreensao publica.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ARSENAL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"Carreguem o arsenal. Cada ferramenta e uma arma."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1  |  16:00 - 16:35  |  35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3: ARSENAL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6142E"/>
                </a:solidFill>
              </a:rPr>
              <a:t>Mapa de Ferramentas</a:t>
            </a:r>
          </a:p>
          <a:p>
            <a:r>
              <a:rPr sz="1600">
                <a:solidFill>
                  <a:srgbClr val="7A7A7A"/>
                </a:solidFill>
              </a:rPr>
              <a:t>5 ferramentas, forcas e fraquezas. Sem ilusoes.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Ferramenta</a:t>
                      </a:r>
                    </a:p>
                  </a:txBody>
                  <a:tcPr>
                    <a:solidFill>
                      <a:srgbClr val="6614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Forca</a:t>
                      </a:r>
                    </a:p>
                  </a:txBody>
                  <a:tcPr>
                    <a:solidFill>
                      <a:srgbClr val="6614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Usar para</a:t>
                      </a:r>
                    </a:p>
                  </a:txBody>
                  <a:tcPr>
                    <a:solidFill>
                      <a:srgbClr val="6614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ChatGPT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Deep Research, Thinking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Pesquisa com fontes, rascunhos em massa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Extended Thinking, textos longos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Pareceres, analise de contratos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Perplexity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Fontes nativas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Jurisprudencia com citacao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NotebookLM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Documentos longos, 1M tokens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Processos volumosos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Gemini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Deep Research, OCR, multimodal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Docs digitalizados, imagens, Google Drive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3: ARSENAL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274320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EXERCICIO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777240"/>
            <a:ext cx="2286000" cy="457200"/>
          </a:xfrm>
          <a:prstGeom prst="round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TIMER: 20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6142E"/>
                </a:solidFill>
              </a:rPr>
              <a:t>Comparativo: ChatGPT vs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1. Use o MESMO caso de defesa do Exercicio 1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2. Envie para o ChatGPT — peca contestacao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3. Envie para o Claude — peca contestacao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4. Compare lado a lado: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 - Qual estruturou melhor?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 - Qual pesquisou melhor jurisprudencia?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 - Qual voce usaria no escritorio?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"Cada ferramenta tem forca diferente. Conheca antes de escolher."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3: ARSENAL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6142E"/>
                </a:solidFill>
              </a:rPr>
              <a:t>Framework CLEAR</a:t>
            </a:r>
          </a:p>
          <a:p>
            <a:r>
              <a:rPr sz="1600">
                <a:solidFill>
                  <a:srgbClr val="7A7A7A"/>
                </a:solidFill>
              </a:rPr>
              <a:t>A diferenca entre resultado generico e resultado profissional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640080" cy="64008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142E"/>
                </a:solidFill>
              </a:rPr>
              <a:t>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31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7A7A7A"/>
                </a:solidFill>
              </a:rPr>
              <a:t>"Sou advogado de escritorio full-service, atuo em [area]..."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0360"/>
            <a:ext cx="640080" cy="64008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880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142E"/>
                </a:solidFill>
              </a:rPr>
              <a:t>Limite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7A7A7A"/>
                </a:solidFill>
              </a:rPr>
              <a:t>"Nao cite sem link. Foque em teses consolidadas."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49039"/>
            <a:ext cx="640080" cy="64008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7490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142E"/>
                </a:solidFill>
              </a:rPr>
              <a:t>Exemplo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0690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7A7A7A"/>
                </a:solidFill>
              </a:rPr>
              <a:t>"Estrutura: qualificacao, sintese, preliminares, merito, pedidos."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17720"/>
            <a:ext cx="640080" cy="64008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617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142E"/>
                </a:solidFill>
              </a:rPr>
              <a:t>Audiencia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7A7A7A"/>
                </a:solidFill>
              </a:rPr>
              <a:t>"Juiz de vara trabalhista de Brasilia" ou "Diretor juridico"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486400"/>
            <a:ext cx="640080" cy="64008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486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142E"/>
                </a:solidFill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806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7A7A7A"/>
                </a:solidFill>
              </a:rPr>
              <a:t>"Advogado experiente em [area], linguagem tecnica e objetiva"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17920"/>
            <a:ext cx="105156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B7791F"/>
                </a:solidFill>
              </a:rPr>
              <a:t>12 Cartas CLEAR com prompts prontos: link enviado no chat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"Todo sistema precisa de protecao. Este e o escudo."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1  |  16:35 - 17:00  |  25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4: FIREWALL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6142E"/>
                </a:solidFill>
              </a:rPr>
              <a:t>Protocolo de Seguranca</a:t>
            </a:r>
          </a:p>
          <a:p>
            <a:r>
              <a:rPr sz="1600">
                <a:solidFill>
                  <a:srgbClr val="7A7A7A"/>
                </a:solidFill>
              </a:rPr>
              <a:t>5 regras inegociaveis para usar IA no escritorio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142E"/>
                </a:solidFill>
              </a:rPr>
              <a:t>Anonimizar SEMPRE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31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A4A4A"/>
                </a:solidFill>
              </a:rPr>
              <a:t>Nomes ficticios, dados mascarados. Nunca dados reais na IA.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8036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346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142E"/>
                </a:solidFill>
              </a:rPr>
              <a:t>Verificar TODA citacao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A4A4A"/>
                </a:solidFill>
              </a:rPr>
              <a:t>Link verificavel ou nao existe. Clicar em cada um.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749039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03319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142E"/>
                </a:solidFill>
              </a:rPr>
              <a:t>Revisar TUDO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0690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A4A4A"/>
                </a:solidFill>
              </a:rPr>
              <a:t>Resposta da IA e rascunho, nao produto final. Sempre revisar.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61772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5720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142E"/>
                </a:solidFill>
              </a:rPr>
              <a:t>Registrar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A4A4A"/>
                </a:solidFill>
              </a:rPr>
              <a:t>Transparencia: CNJ 615/2025 exige registro de uso de IA.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48640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4406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142E"/>
                </a:solidFill>
              </a:rPr>
              <a:t>Humano 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806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A4A4A"/>
                </a:solidFill>
              </a:rPr>
              <a:t>IA sugere, advogado assina. Responsabilidade e sua.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4: FIREWALL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274320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EXERCICIO 5 (MINI)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777240"/>
            <a:ext cx="2286000" cy="457200"/>
          </a:xfrm>
          <a:prstGeom prst="round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TIMER: 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6142E"/>
                </a:solidFill>
              </a:rPr>
              <a:t>Anonimizacao na pratica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1. Pegue um trecho de caso REAL do escritorio (no celular ou de memoria)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2. Anonimize: troque nomes, mascare CPFs, altere valores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3. Envie o trecho anonimizado para a IA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4. Peca analise ou contestacao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Antes: "Maria Silva, CPF 123.456.789-00, salario R$ 2.800"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Depois: "Reclamante X, dados anonimizados, remuneracao de 1 SM"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Dia 1 concluido.</a:t>
            </a:r>
          </a:p>
          <a:p>
            <a:pPr algn="ctr">
              <a:spcBef>
                <a:spcPts val="3000"/>
              </a:spcBef>
            </a:pPr>
            <a:r>
              <a:rPr sz="2200">
                <a:solidFill>
                  <a:srgbClr val="7A7A7A"/>
                </a:solidFill>
              </a:rPr>
              <a:t>Tarefa para amanha:</a:t>
            </a:r>
          </a:p>
          <a:p>
            <a:pPr algn="ctr">
              <a:spcBef>
                <a:spcPts val="2000"/>
              </a:spcBef>
            </a:pPr>
            <a:r>
              <a:rPr sz="3200" b="1" i="1">
                <a:solidFill>
                  <a:srgbClr val="D69E2E"/>
                </a:solidFill>
              </a:rPr>
              <a:t>"Ate amanha, usem IA em algo real.
Tragam a experiencia."</a:t>
            </a:r>
          </a:p>
          <a:p>
            <a:pPr algn="ctr">
              <a:spcBef>
                <a:spcPts val="4000"/>
              </a:spcBef>
            </a:pPr>
            <a:r>
              <a:rPr sz="1800">
                <a:solidFill>
                  <a:srgbClr val="64748B"/>
                </a:solidFill>
              </a:rPr>
              <a:t>Sexta-feira, 07/02  |  10h - 12h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DIA 2</a:t>
            </a:r>
          </a:p>
          <a:p>
            <a:pPr algn="ctr">
              <a:spcBef>
                <a:spcPts val="1000"/>
              </a:spcBef>
            </a:pPr>
            <a:r>
              <a:rPr sz="2400">
                <a:solidFill>
                  <a:srgbClr val="D69E2E"/>
                </a:solidFill>
              </a:rPr>
              <a:t>Sexta-feira, 07 de fevereiro  |  10h - 12h</a:t>
            </a:r>
          </a:p>
          <a:p>
            <a:pPr algn="ctr">
              <a:spcBef>
                <a:spcPts val="2000"/>
              </a:spcBef>
            </a:pPr>
            <a:r>
              <a:rPr sz="1800">
                <a:solidFill>
                  <a:srgbClr val="94A3B8"/>
                </a:solidFill>
              </a:rPr>
              <a:t>Caso completo  +  Jurimetria  +  Ativacao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50292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DIA 2 — Sexta 07/02 — 10h-12h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6142E"/>
                </a:solidFill>
              </a:rPr>
              <a:t>Agenda — Dia 2</a:t>
            </a:r>
          </a:p>
          <a:p>
            <a:r>
              <a:rPr sz="1600">
                <a:solidFill>
                  <a:srgbClr val="7A7A7A"/>
                </a:solidFill>
              </a:rPr>
              <a:t>Sexta-feira, 07 de fevereiro  |  10h - 12h  |  120 minutos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6614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Horario</a:t>
                      </a:r>
                    </a:p>
                  </a:txBody>
                  <a:tcPr>
                    <a:solidFill>
                      <a:srgbClr val="6614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Duracao</a:t>
                      </a:r>
                    </a:p>
                  </a:txBody>
                  <a:tcPr>
                    <a:solidFill>
                      <a:srgbClr val="6614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Tema</a:t>
                      </a:r>
                    </a:p>
                  </a:txBody>
                  <a:tcPr>
                    <a:solidFill>
                      <a:srgbClr val="6614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5. TESTE DE CAMPO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10:00 - 10:55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55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Caso completo — fluxo de defesa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6. ANALYTICS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10:55 - 11:35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40 min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Jurimetria para contencioso de massa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7. ATIVACAO COMPLETA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11:35 - 12:00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25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Recursos + Compromisso + Encerramento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38912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7A7A7A"/>
                </a:solidFill>
              </a:rPr>
              <a:t>2 exercicios (1 completo + 1 mini)  |  71% pratica  |  29% instrucao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TESTE DE
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"Caso real. Mostrem o que ativaram."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2  |  10:00 - 10:55  |  55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5: TESTE DE CAMPO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6142E"/>
                </a:solidFill>
              </a:rPr>
              <a:t>O que tentaram ontem?
O que funcionou?</a:t>
            </a:r>
          </a:p>
          <a:p>
            <a:pPr algn="ctr">
              <a:spcBef>
                <a:spcPts val="3000"/>
              </a:spcBef>
            </a:pPr>
            <a:r>
              <a:rPr sz="2000">
                <a:solidFill>
                  <a:srgbClr val="7A7A7A"/>
                </a:solidFill>
              </a:rPr>
              <a:t>Online responde primeiro — chat ou microfone
Celebrar as tentativas!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5: TESTE DE CAMPO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6142E"/>
                </a:solidFill>
              </a:rPr>
              <a:t>Caso Ficticio — Dispensa Discriminatoria</a:t>
            </a:r>
          </a:p>
          <a:p>
            <a:r>
              <a:rPr sz="1600">
                <a:solidFill>
                  <a:srgbClr val="7A7A7A"/>
                </a:solidFill>
              </a:rPr>
              <a:t>Escritorio defende a empresa  |  DADOS FICTICIOS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66142E"/>
                </a:solidFill>
              </a:rPr>
              <a:t>FATOS ALEGADOS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Reclamante: Maria Silva Santos, 52 anos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Cargo: Auxiliar administrativa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Periodo: 15/03/2018 a 10/01/2026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Salario: R$ 2.800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Dispensada apos retorno de licenca (sindrome do panico)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Empresa contratou funcionaria de 24 anos, salario R$ 2.200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Alega que gerente disse: "precisamos de sangue novo"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B7791F"/>
                </a:solidFill>
              </a:rPr>
              <a:t>MISSAO (DEFESA)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1. Pesquisar jurisprudencia favoravel a empresa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2. Gerar contestacao impugnando: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 - Discriminacao (negar)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 - Nexo causal (inexistente)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 - Testemunho indireto (ouvir dizer)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3. Teses possiveis: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 - Reestruturacao legitima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 - Poder diretivo do empregador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 - Ausencia de prova direta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5: TESTE DE CAMPO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274320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EXERCICIO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777240"/>
            <a:ext cx="2286000" cy="457200"/>
          </a:xfrm>
          <a:prstGeom prst="round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TIMER: 40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6142E"/>
                </a:solidFill>
              </a:rPr>
              <a:t>Fluxo Completo de Defesa — 3 Etapas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pt-BR" sz="1800" b="1" dirty="0">
                <a:solidFill>
                  <a:srgbClr val="333333"/>
                </a:solidFill>
              </a:rPr>
              <a:t>ETAPA 1 — PESQUISA (12 min)</a:t>
            </a:r>
          </a:p>
          <a:p>
            <a:pPr>
              <a:spcAft>
                <a:spcPts val="400"/>
              </a:spcAft>
            </a:pPr>
            <a:r>
              <a:rPr lang="pt-BR" sz="1800" b="0" dirty="0">
                <a:solidFill>
                  <a:srgbClr val="333333"/>
                </a:solidFill>
              </a:rPr>
              <a:t>  Pesquisar jurisprudencia de defesa com Protocolo</a:t>
            </a:r>
          </a:p>
          <a:p>
            <a:pPr>
              <a:spcAft>
                <a:spcPts val="400"/>
              </a:spcAft>
            </a:pPr>
            <a:r>
              <a:rPr lang="pt-BR" sz="1800" b="0" dirty="0">
                <a:solidFill>
                  <a:srgbClr val="333333"/>
                </a:solidFill>
              </a:rPr>
              <a:t>  Busca -&gt; Link -&gt; Thinking -&gt; Checagem</a:t>
            </a:r>
          </a:p>
          <a:p>
            <a:pPr>
              <a:spcAft>
                <a:spcPts val="400"/>
              </a:spcAft>
              <a:spcBef>
                <a:spcPts val="1000"/>
              </a:spcBef>
            </a:pPr>
            <a:r>
              <a:rPr lang="pt-BR" sz="1800" b="1" dirty="0">
                <a:solidFill>
                  <a:srgbClr val="333333"/>
                </a:solidFill>
              </a:rPr>
              <a:t>ETAPA 2 — MINUTA (18 min)</a:t>
            </a:r>
          </a:p>
          <a:p>
            <a:pPr>
              <a:spcAft>
                <a:spcPts val="400"/>
              </a:spcAft>
            </a:pPr>
            <a:r>
              <a:rPr lang="pt-BR" sz="1800" b="0" dirty="0">
                <a:solidFill>
                  <a:srgbClr val="333333"/>
                </a:solidFill>
              </a:rPr>
              <a:t>  Gerar contestacao aplicando CLEAR</a:t>
            </a:r>
          </a:p>
          <a:p>
            <a:pPr>
              <a:spcAft>
                <a:spcPts val="400"/>
              </a:spcAft>
            </a:pPr>
            <a:r>
              <a:rPr lang="pt-BR" sz="1800" b="0" dirty="0">
                <a:solidFill>
                  <a:srgbClr val="333333"/>
                </a:solidFill>
              </a:rPr>
              <a:t>  Impugnar ponto a ponto</a:t>
            </a:r>
          </a:p>
          <a:p>
            <a:pPr>
              <a:spcAft>
                <a:spcPts val="400"/>
              </a:spcAft>
              <a:spcBef>
                <a:spcPts val="1000"/>
              </a:spcBef>
            </a:pPr>
            <a:r>
              <a:rPr lang="pt-BR" sz="1800" b="1" dirty="0">
                <a:solidFill>
                  <a:srgbClr val="333333"/>
                </a:solidFill>
              </a:rPr>
              <a:t>ETAPA 3 — VERIFICACAO (10 min)</a:t>
            </a:r>
          </a:p>
          <a:p>
            <a:pPr>
              <a:spcAft>
                <a:spcPts val="400"/>
              </a:spcAft>
            </a:pPr>
            <a:r>
              <a:rPr lang="pt-BR" sz="1800" b="0" dirty="0">
                <a:solidFill>
                  <a:srgbClr val="333333"/>
                </a:solidFill>
              </a:rPr>
              <a:t>  Checar links, pedir autochecagem, revisar</a:t>
            </a:r>
          </a:p>
          <a:p>
            <a:pPr>
              <a:spcAft>
                <a:spcPts val="400"/>
              </a:spcAft>
              <a:spcBef>
                <a:spcPts val="1000"/>
              </a:spcBef>
            </a:pPr>
            <a:r>
              <a:rPr lang="pt-BR" sz="1800" b="1" dirty="0">
                <a:solidFill>
                  <a:srgbClr val="333333"/>
                </a:solidFill>
              </a:rPr>
              <a:t>INDIVIDUAL — Instrutor circula e monitora chat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5: TESTE DE CAMPO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6142E"/>
                </a:solidFill>
              </a:rPr>
              <a:t>Onde a IA ajudou mais?
Onde atrapalhou?</a:t>
            </a:r>
          </a:p>
          <a:p>
            <a:pPr algn="ctr">
              <a:spcBef>
                <a:spcPts val="3000"/>
              </a:spcBef>
            </a:pPr>
            <a:r>
              <a:rPr sz="2000">
                <a:solidFill>
                  <a:srgbClr val="7A7A7A"/>
                </a:solidFill>
              </a:rPr>
              <a:t>2-3 relatos (mix online + presencial)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"Dados onde outros veem caos. O nivel estrategico."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2  |  10:55 - 11:35  |  40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6: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6142E"/>
                </a:solidFill>
              </a:rPr>
              <a:t>Jurimetria</a:t>
            </a:r>
          </a:p>
          <a:p>
            <a:r>
              <a:rPr sz="1600">
                <a:solidFill>
                  <a:srgbClr val="7A7A7A"/>
                </a:solidFill>
              </a:rPr>
              <a:t>Dados + Estatistica aplicados ao Direito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084832"/>
            <a:ext cx="228600" cy="2286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142E"/>
                </a:solidFill>
              </a:rPr>
              <a:t>Provisao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011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Estimar valor de risco por tipo de acao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62072"/>
            <a:ext cx="228600" cy="2286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743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142E"/>
                </a:solidFill>
              </a:rPr>
              <a:t>Estrategia de acordo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788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Identificar quando acordo e mais barato que litigar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639312"/>
            <a:ext cx="228600" cy="2286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520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142E"/>
                </a:solidFill>
              </a:rPr>
              <a:t>Perfil de juiz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566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Padroes decisorios por vara/magistrado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16552"/>
            <a:ext cx="228600" cy="2286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2976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142E"/>
                </a:solidFill>
              </a:rPr>
              <a:t>Alocacao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343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Priorizar casos com maior risco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193792"/>
            <a:ext cx="228600" cy="2286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074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142E"/>
                </a:solidFill>
              </a:rPr>
              <a:t>Relatorio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Dados concretos para o cliente, nao 'achismo'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B7791F"/>
                </a:solidFill>
              </a:rPr>
              <a:t>"Jurimetria muda a estrategia de contencioso de massa."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6: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274320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EXERCICIO 7 (MINI)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777240"/>
            <a:ext cx="2286000" cy="457200"/>
          </a:xfrm>
          <a:prstGeom prst="round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TIMER: 8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6142E"/>
                </a:solidFill>
              </a:rPr>
              <a:t>Pergunta Jurimetrica a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Pergunte a IA: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"Qual o perfil decisorio da [vara/juiz] em [tema do escritorio]?"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Exemplos: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"Qual o % de condenacao em horas extras na 3a Vara de Brasilia?"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"Qual o valor medio de indenizacao por dano moral no TRT-10?"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Compare a resposta com sua experiencia real.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A IA acertou? Errou? Onde os dados falharam?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6: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6142E"/>
                </a:solidFill>
              </a:rPr>
              <a:t>Ferramentas de Jurimetria</a:t>
            </a:r>
          </a:p>
          <a:p>
            <a:r>
              <a:rPr sz="1600">
                <a:solidFill>
                  <a:srgbClr val="7A7A7A"/>
                </a:solidFill>
              </a:rPr>
              <a:t>IA ajuda na analise, mas os dados precisam ser de fonte confiavel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Ferramenta</a:t>
                      </a:r>
                    </a:p>
                  </a:txBody>
                  <a:tcPr>
                    <a:solidFill>
                      <a:srgbClr val="6614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 que faz</a:t>
                      </a:r>
                    </a:p>
                  </a:txBody>
                  <a:tcPr>
                    <a:solidFill>
                      <a:srgbClr val="6614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Observacao</a:t>
                      </a:r>
                    </a:p>
                  </a:txBody>
                  <a:tcPr>
                    <a:solidFill>
                      <a:srgbClr val="6614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Jusbrasil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Padroes decisorios, perfil de juiz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Base mais completa do Brasil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Turivius / JUIT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Jurimetria + busca inteligente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Foco em contencioso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Jurimetrics (ABAJ)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Estatisticas por vara/tribunal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Pesquisa academica + pratica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IA Generativa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Analise de padroes, resumos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t>Validar com dados reais sempre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029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EF4444"/>
                </a:solidFill>
              </a:rPr>
              <a:t>"IA generativa complementa, mas NAO substitui ferramentas de dados reais."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ATIVACAO
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"A partir de segunda-feira, voces sao diferentes."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2  |  11:35 - 12:00  |  25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7: ATIVACAO COMPLETA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6142E"/>
                </a:solidFill>
              </a:rPr>
              <a:t>Recursos para Continuar</a:t>
            </a:r>
          </a:p>
          <a:p>
            <a:r>
              <a:rPr sz="1600">
                <a:solidFill>
                  <a:srgbClr val="7A7A7A"/>
                </a:solidFill>
              </a:rPr>
              <a:t>Links e QR codes — escaneie ou acesse pelo link no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6142E"/>
                </a:solidFill>
              </a:rPr>
              <a:t>AB2L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0116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B82F6"/>
                </a:solidFill>
              </a:rPr>
              <a:t>ab2l.org.br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0116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7A7A"/>
                </a:solidFill>
              </a:rPr>
              <a:t>Associacao Brasileira de Lawtechs — comunidade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6142E"/>
                </a:solidFill>
              </a:rPr>
              <a:t>Podcast Direito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7889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B82F6"/>
                </a:solidFill>
              </a:rPr>
              <a:t>Spotify: Ana Frazao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7889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7A7A"/>
                </a:solidFill>
              </a:rPr>
              <a:t>Regulacao, IA e direito — episodios semanais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6142E"/>
                </a:solidFill>
              </a:rPr>
              <a:t>FGV Regulacao da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5661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B82F6"/>
                </a:solidFill>
              </a:rPr>
              <a:t>educacao-executiva.fgv.br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5661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7A7A"/>
                </a:solidFill>
              </a:rPr>
              <a:t>Curso gratuito, 1h, 6.400+ alunos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6142E"/>
                </a:solidFill>
              </a:rPr>
              <a:t>CNJ 615/2025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3434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B82F6"/>
                </a:solidFill>
              </a:rPr>
              <a:t>atos.cnj.jus.br/atos/detalhar/6001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3434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7A7A"/>
                </a:solidFill>
              </a:rPr>
              <a:t>Resolucao sobre IA no Judiciario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6142E"/>
                </a:solidFill>
              </a:rPr>
              <a:t>12 Cartas CLEAR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12064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B82F6"/>
                </a:solidFill>
              </a:rPr>
              <a:t>igormorais123.github.io/curso-ia-paixao-cortes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1206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7A7A"/>
                </a:solidFill>
              </a:rPr>
              <a:t>Prompts prontos para todas as areas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7: ATIVACAO COMPLETA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Paixao Cortes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48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66142E"/>
                </a:solidFill>
              </a:rPr>
              <a:t>Compromisso</a:t>
            </a:r>
          </a:p>
          <a:p>
            <a:pPr algn="ctr">
              <a:spcBef>
                <a:spcPts val="3000"/>
              </a:spcBef>
            </a:pPr>
            <a:r>
              <a:rPr sz="3200" i="1">
                <a:solidFill>
                  <a:srgbClr val="D69E2E"/>
                </a:solidFill>
              </a:rPr>
              <a:t>"Na segunda-feira, vou usar IA para _____."</a:t>
            </a:r>
          </a:p>
          <a:p>
            <a:pPr algn="ctr">
              <a:spcBef>
                <a:spcPts val="3000"/>
              </a:spcBef>
            </a:pPr>
            <a:r>
              <a:rPr sz="2200">
                <a:solidFill>
                  <a:srgbClr val="4A4A4A"/>
                </a:solidFill>
              </a:rPr>
              <a:t>Escreva no papel ou digite no chat.
Agora.</a:t>
            </a:r>
          </a:p>
          <a:p>
            <a:pPr algn="ctr">
              <a:spcBef>
                <a:spcPts val="3000"/>
              </a:spcBef>
            </a:pPr>
            <a:r>
              <a:rPr sz="1600">
                <a:solidFill>
                  <a:srgbClr val="7A7A7A"/>
                </a:solidFill>
              </a:rPr>
              <a:t>3-4 voluntarios compartilham (mix online + presencial)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0" y="548640"/>
            <a:ext cx="1920240" cy="19202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00" b="1">
                <a:solidFill>
                  <a:srgbClr val="FFFFFF"/>
                </a:solidFill>
              </a:rPr>
              <a:t>
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Protocolo ativado.</a:t>
            </a:r>
          </a:p>
          <a:p>
            <a:pPr algn="ctr">
              <a:spcBef>
                <a:spcPts val="2000"/>
              </a:spcBef>
            </a:pPr>
            <a:r>
              <a:rPr sz="2400" i="1">
                <a:solidFill>
                  <a:srgbClr val="D69E2E"/>
                </a:solidFill>
              </a:rPr>
              <a:t>3 cidades, uma equipe.
A partir de segunda, voces operam diferente.</a:t>
            </a:r>
          </a:p>
          <a:p>
            <a:pPr algn="ctr">
              <a:spcBef>
                <a:spcPts val="4000"/>
              </a:spcBef>
            </a:pPr>
            <a:r>
              <a:rPr sz="1400">
                <a:solidFill>
                  <a:srgbClr val="94A3B8"/>
                </a:solidFill>
              </a:rPr>
              <a:t>INTEIA — Instituto de Treinamento e Estudos em IA</a:t>
            </a:r>
          </a:p>
          <a:p>
            <a:pPr algn="ctr"/>
            <a:r>
              <a:rPr sz="1200">
                <a:solidFill>
                  <a:srgbClr val="64748B"/>
                </a:solidFill>
              </a:rPr>
              <a:t>Dr. Igor Morais Vasconcelos  |  igormorais123@gmail.com  |  (61) 98115-7120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560320"/>
            <a:ext cx="39620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